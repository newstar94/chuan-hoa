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d7954375714f78" /><Relationship Type="http://schemas.openxmlformats.org/officeDocument/2006/relationships/extended-properties" Target="/docProps/app.xml" Id="Rf1360cb5fe16495f" /><Relationship Type="http://schemas.openxmlformats.org/officeDocument/2006/relationships/officeDocument" Target="/ppt/presentation.xml" Id="Rae622a2109c94731" /></Relationships>
</file>

<file path=ppt/presentation.xml><?xml version="1.0" encoding="utf-8"?>
<p:presentation xmlns:p="http://schemas.openxmlformats.org/presentationml/2006/main">
  <p:sldMasterIdLst>
    <p:sldMasterId xmlns:r="http://schemas.openxmlformats.org/officeDocument/2006/relationships" id="2147483648" r:id="Ra873be8ea6294fca"/>
  </p:sldMasterIdLst>
  <p:notesMasterIdLst>
    <p:notesMasterId xmlns:r="http://schemas.openxmlformats.org/officeDocument/2006/relationships" r:id="R6651904bf3e74bcf"/>
  </p:notesMasterIdLst>
  <p:sldIdLst>
    <p:sldId xmlns:r="http://schemas.openxmlformats.org/officeDocument/2006/relationships" id="256" r:id="R057035ba82ed45b9"/>
    <p:sldId xmlns:r="http://schemas.openxmlformats.org/officeDocument/2006/relationships" id="257" r:id="R7194b3bff23e44e7"/>
    <p:sldId xmlns:r="http://schemas.openxmlformats.org/officeDocument/2006/relationships" id="258" r:id="Rf8a53bb2744a461c"/>
    <p:sldId xmlns:r="http://schemas.openxmlformats.org/officeDocument/2006/relationships" id="259" r:id="R7b5cc65ad1a34e75"/>
    <p:sldId xmlns:r="http://schemas.openxmlformats.org/officeDocument/2006/relationships" id="260" r:id="R96291cb9a5234769"/>
    <p:sldId xmlns:r="http://schemas.openxmlformats.org/officeDocument/2006/relationships" id="261" r:id="R674d944c5f764fab"/>
    <p:sldId xmlns:r="http://schemas.openxmlformats.org/officeDocument/2006/relationships" id="262" r:id="Rdb056a1adcd44a13"/>
    <p:sldId xmlns:r="http://schemas.openxmlformats.org/officeDocument/2006/relationships" id="263" r:id="R0192057f7f2d4147"/>
    <p:sldId xmlns:r="http://schemas.openxmlformats.org/officeDocument/2006/relationships" id="264" r:id="Rdc44654392d742c3"/>
    <p:sldId xmlns:r="http://schemas.openxmlformats.org/officeDocument/2006/relationships" id="265" r:id="R760f3bf58f234b51"/>
    <p:sldId xmlns:r="http://schemas.openxmlformats.org/officeDocument/2006/relationships" id="266" r:id="Ra71a50ac00eb4ed6"/>
    <p:sldId xmlns:r="http://schemas.openxmlformats.org/officeDocument/2006/relationships" id="267" r:id="R4503688b25a7458d"/>
    <p:sldId xmlns:r="http://schemas.openxmlformats.org/officeDocument/2006/relationships" id="268" r:id="Rbc1eed17d9924260"/>
    <p:sldId xmlns:r="http://schemas.openxmlformats.org/officeDocument/2006/relationships" id="269" r:id="R2725249fa4e844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9f97be83814cdc" /><Relationship Type="http://schemas.openxmlformats.org/officeDocument/2006/relationships/slideMaster" Target="/ppt/slideMasters/slideMaster1.xml" Id="Ra873be8ea6294fca" /><Relationship Type="http://schemas.openxmlformats.org/officeDocument/2006/relationships/notesMaster" Target="/ppt/notesMasters/notesMaster1.xml" Id="R6651904bf3e74bcf" /><Relationship Type="http://schemas.openxmlformats.org/officeDocument/2006/relationships/presProps" Target="/ppt/presProps.xml" Id="Rb177290ac9964847" /><Relationship Type="http://schemas.openxmlformats.org/officeDocument/2006/relationships/tableStyles" Target="/ppt/tableStyles.xml" Id="R7d34f1488b964bf7" /><Relationship Type="http://schemas.openxmlformats.org/officeDocument/2006/relationships/slide" Target="/ppt/slides/slide1.xml" Id="R057035ba82ed45b9" /><Relationship Type="http://schemas.openxmlformats.org/officeDocument/2006/relationships/slide" Target="/ppt/slides/slide2.xml" Id="R7194b3bff23e44e7" /><Relationship Type="http://schemas.openxmlformats.org/officeDocument/2006/relationships/slide" Target="/ppt/slides/slide3.xml" Id="Rf8a53bb2744a461c" /><Relationship Type="http://schemas.openxmlformats.org/officeDocument/2006/relationships/slide" Target="/ppt/slides/slide4.xml" Id="R7b5cc65ad1a34e75" /><Relationship Type="http://schemas.openxmlformats.org/officeDocument/2006/relationships/slide" Target="/ppt/slides/slide5.xml" Id="R96291cb9a5234769" /><Relationship Type="http://schemas.openxmlformats.org/officeDocument/2006/relationships/slide" Target="/ppt/slides/slide6.xml" Id="R674d944c5f764fab" /><Relationship Type="http://schemas.openxmlformats.org/officeDocument/2006/relationships/slide" Target="/ppt/slides/slide7.xml" Id="Rdb056a1adcd44a13" /><Relationship Type="http://schemas.openxmlformats.org/officeDocument/2006/relationships/slide" Target="/ppt/slides/slide8.xml" Id="R0192057f7f2d4147" /><Relationship Type="http://schemas.openxmlformats.org/officeDocument/2006/relationships/slide" Target="/ppt/slides/slide9.xml" Id="Rdc44654392d742c3" /><Relationship Type="http://schemas.openxmlformats.org/officeDocument/2006/relationships/slide" Target="/ppt/slides/slide10.xml" Id="R760f3bf58f234b51" /><Relationship Type="http://schemas.openxmlformats.org/officeDocument/2006/relationships/slide" Target="/ppt/slides/slide11.xml" Id="Ra71a50ac00eb4ed6" /><Relationship Type="http://schemas.openxmlformats.org/officeDocument/2006/relationships/slide" Target="/ppt/slides/slide12.xml" Id="R4503688b25a7458d" /><Relationship Type="http://schemas.openxmlformats.org/officeDocument/2006/relationships/slide" Target="/ppt/slides/slide13.xml" Id="Rbc1eed17d9924260" /><Relationship Type="http://schemas.openxmlformats.org/officeDocument/2006/relationships/slide" Target="/ppt/slides/slide14.xml" Id="R2725249fa4e844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7a1873389649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1f38761c624c9a" /><Relationship Type="http://schemas.openxmlformats.org/officeDocument/2006/relationships/notesMaster" Target="/ppt/notesMasters/notesMaster1.xml" Id="Rb58fea40438e4d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90bea226ec4a4c" /><Relationship Type="http://schemas.openxmlformats.org/officeDocument/2006/relationships/notesMaster" Target="/ppt/notesMasters/notesMaster1.xml" Id="R8078aaf68c5c4f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cabb47cf284551" /><Relationship Type="http://schemas.openxmlformats.org/officeDocument/2006/relationships/notesMaster" Target="/ppt/notesMasters/notesMaster1.xml" Id="Rea08ffc4f15e4c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b3b0c7512846af" /><Relationship Type="http://schemas.openxmlformats.org/officeDocument/2006/relationships/notesMaster" Target="/ppt/notesMasters/notesMaster1.xml" Id="R9ecd50ebd46347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535f9567ed4b7d" /><Relationship Type="http://schemas.openxmlformats.org/officeDocument/2006/relationships/notesMaster" Target="/ppt/notesMasters/notesMaster1.xml" Id="R553d1b6073f043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865ba8ec4f457c" /><Relationship Type="http://schemas.openxmlformats.org/officeDocument/2006/relationships/notesMaster" Target="/ppt/notesMasters/notesMaster1.xml" Id="R0dffe8fc8b0840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7ce764e9be4fc7" /><Relationship Type="http://schemas.openxmlformats.org/officeDocument/2006/relationships/notesMaster" Target="/ppt/notesMasters/notesMaster1.xml" Id="R9e0033663f664f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10621e2a6a9499e" /><Relationship Type="http://schemas.openxmlformats.org/officeDocument/2006/relationships/notesMaster" Target="/ppt/notesMasters/notesMaster1.xml" Id="R774bb0823da84c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51fd3a15e84448" /><Relationship Type="http://schemas.openxmlformats.org/officeDocument/2006/relationships/notesMaster" Target="/ppt/notesMasters/notesMaster1.xml" Id="R372de707e54348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6b7f23282541e5" /><Relationship Type="http://schemas.openxmlformats.org/officeDocument/2006/relationships/notesMaster" Target="/ppt/notesMasters/notesMaster1.xml" Id="R92abedf1271049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1043b50650416f" /><Relationship Type="http://schemas.openxmlformats.org/officeDocument/2006/relationships/notesMaster" Target="/ppt/notesMasters/notesMaster1.xml" Id="R42817587b9364c7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f13d2470e241bc" /><Relationship Type="http://schemas.openxmlformats.org/officeDocument/2006/relationships/notesMaster" Target="/ppt/notesMasters/notesMaster1.xml" Id="Rc502f06c0cb348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e9cddc295c4eea" /><Relationship Type="http://schemas.openxmlformats.org/officeDocument/2006/relationships/notesMaster" Target="/ppt/notesMasters/notesMaster1.xml" Id="Rdf83a30362794d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7a384386aa4676" /><Relationship Type="http://schemas.openxmlformats.org/officeDocument/2006/relationships/notesMaster" Target="/ppt/notesMasters/notesMaster1.xml" Id="R7484f0c9816141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Tài liệu tham chiếu: Luật Đấu thầu hợp nhất (22-57-90); Nghị định 214/2025/NĐ-CP; Nghị định 349/2026/NĐ-CP; Quy chế lựa chọn nhà thầu Viettel 2026; Quy định lựa chọn nhà thầu qua mạng và đăng tải thông tin Viettel 2026; Hướng dẫn sử dụng Cổng đấu thầu Viettel. Nội dung đào tạo mang tính khái quát, cần đối chiếu văn bản hiện hành và hồ sơ cụ thể trước khi áp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Tài liệu tham chiếu: Luật Đấu thầu hợp nhất (22-57-90); Nghị định 214/2025/NĐ-CP; Nghị định 349/2026/NĐ-CP; Quy chế lựa chọn nhà thầu Viettel 2026; Quy định lựa chọn nhà thầu qua mạng và đăng tải thông tin Viettel 2026; Hướng dẫn sử dụng Cổng đấu thầu Viettel. Nội dung đào tạo mang tính khái quát, cần đối chiếu văn bản hiện hành và hồ sơ cụ thể trước khi áp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Tài liệu tham chiếu: Luật Đấu thầu hợp nhất (22-57-90); Nghị định 214/2025/NĐ-CP; Nghị định 349/2026/NĐ-CP; Quy chế lựa chọn nhà thầu Viettel 2026; Quy định lựa chọn nhà thầu qua mạng và đăng tải thông tin Viettel 2026; Hướng dẫn sử dụng Cổng đấu thầu Viettel. Nội dung đào tạo mang tính khái quát, cần đối chiếu văn bản hiện hành và hồ sơ cụ thể trước khi áp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Tài liệu tham chiếu: Luật Đấu thầu hợp nhất (22-57-90); Nghị định 214/2025/NĐ-CP; Nghị định 349/2026/NĐ-CP; Quy chế lựa chọn nhà thầu Viettel 2026; Quy định lựa chọn nhà thầu qua mạng và đăng tải thông tin Viettel 2026; Hướng dẫn sử dụng Cổng đấu thầu Viettel. Nội dung đào tạo mang tính khái quát, cần đối chiếu văn bản hiện hành và hồ sơ cụ thể trước khi áp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Tài liệu tham chiếu: Luật Đấu thầu hợp nhất (22-57-90); Nghị định 214/2025/NĐ-CP; Nghị định 349/2026/NĐ-CP; Quy chế lựa chọn nhà thầu Viettel 2026; Quy định lựa chọn nhà thầu qua mạng và đăng tải thông tin Viettel 2026; Hướng dẫn sử dụng Cổng đấu thầu Viettel. Nội dung đào tạo mang tính khái quát, cần đối chiếu văn bản hiện hành và hồ sơ cụ thể trước khi áp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Tài liệu tham chiếu: Luật Đấu thầu hợp nhất (22-57-90); Nghị định 214/2025/NĐ-CP; Nghị định 349/2026/NĐ-CP; Quy chế lựa chọn nhà thầu Viettel 2026; Quy định lựa chọn nhà thầu qua mạng và đăng tải thông tin Viettel 2026; Hướng dẫn sử dụng Cổng đấu thầu Viettel. Nội dung đào tạo mang tính khái quát, cần đối chiếu văn bản hiện hành và hồ sơ cụ thể trước khi áp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Tài liệu tham chiếu: Luật Đấu thầu hợp nhất (22-57-90); Nghị định 214/2025/NĐ-CP; Nghị định 349/2026/NĐ-CP; Quy chế lựa chọn nhà thầu Viettel 2026; Quy định lựa chọn nhà thầu qua mạng và đăng tải thông tin Viettel 2026; Hướng dẫn sử dụng Cổng đấu thầu Viettel. Nội dung đào tạo mang tính khái quát, cần đối chiếu văn bản hiện hành và hồ sơ cụ thể trước khi áp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Tài liệu tham chiếu: Luật Đấu thầu hợp nhất (22-57-90); Nghị định 214/2025/NĐ-CP; Nghị định 349/2026/NĐ-CP; Quy chế lựa chọn nhà thầu Viettel 2026; Quy định lựa chọn nhà thầu qua mạng và đăng tải thông tin Viettel 2026; Hướng dẫn sử dụng Cổng đấu thầu Viettel. Nội dung đào tạo mang tính khái quát, cần đối chiếu văn bản hiện hành và hồ sơ cụ thể trước khi áp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Tài liệu tham chiếu: Luật Đấu thầu hợp nhất (22-57-90); Nghị định 214/2025/NĐ-CP; Nghị định 349/2026/NĐ-CP; Quy chế lựa chọn nhà thầu Viettel 2026; Quy định lựa chọn nhà thầu qua mạng và đăng tải thông tin Viettel 2026; Hướng dẫn sử dụng Cổng đấu thầu Viettel. Nội dung đào tạo mang tính khái quát, cần đối chiếu văn bản hiện hành và hồ sơ cụ thể trước khi áp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Tài liệu tham chiếu: Luật Đấu thầu hợp nhất (22-57-90); Nghị định 214/2025/NĐ-CP; Nghị định 349/2026/NĐ-CP; Quy chế lựa chọn nhà thầu Viettel 2026; Quy định lựa chọn nhà thầu qua mạng và đăng tải thông tin Viettel 2026; Hướng dẫn sử dụng Cổng đấu thầu Viettel. Nội dung đào tạo mang tính khái quát, cần đối chiếu văn bản hiện hành và hồ sơ cụ thể trước khi áp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Tài liệu tham chiếu: Luật Đấu thầu hợp nhất (22-57-90); Nghị định 214/2025/NĐ-CP; Nghị định 349/2026/NĐ-CP; Quy chế lựa chọn nhà thầu Viettel 2026; Quy định lựa chọn nhà thầu qua mạng và đăng tải thông tin Viettel 2026; Hướng dẫn sử dụng Cổng đấu thầu Viettel. Nội dung đào tạo mang tính khái quát, cần đối chiếu văn bản hiện hành và hồ sơ cụ thể trước khi áp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Tài liệu tham chiếu: Luật Đấu thầu hợp nhất (22-57-90); Nghị định 214/2025/NĐ-CP; Nghị định 349/2026/NĐ-CP; Quy chế lựa chọn nhà thầu Viettel 2026; Quy định lựa chọn nhà thầu qua mạng và đăng tải thông tin Viettel 2026; Hướng dẫn sử dụng Cổng đấu thầu Viettel. Nội dung đào tạo mang tính khái quát, cần đối chiếu văn bản hiện hành và hồ sơ cụ thể trước khi áp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Tài liệu tham chiếu: Luật Đấu thầu hợp nhất (22-57-90); Nghị định 214/2025/NĐ-CP; Nghị định 349/2026/NĐ-CP; Quy chế lựa chọn nhà thầu Viettel 2026; Quy định lựa chọn nhà thầu qua mạng và đăng tải thông tin Viettel 2026; Hướng dẫn sử dụng Cổng đấu thầu Viettel. Nội dung đào tạo mang tính khái quát, cần đối chiếu văn bản hiện hành và hồ sơ cụ thể trước khi áp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Tài liệu tham chiếu: Luật Đấu thầu hợp nhất (22-57-90); Nghị định 214/2025/NĐ-CP; Nghị định 349/2026/NĐ-CP; Quy chế lựa chọn nhà thầu Viettel 2026; Quy định lựa chọn nhà thầu qua mạng và đăng tải thông tin Viettel 2026; Hướng dẫn sử dụng Cổng đấu thầu Viettel. Nội dung đào tạo mang tính khái quát, cần đối chiếu văn bản hiện hành và hồ sơ cụ thể trước khi áp dụng.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327b388def4f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bdbea704c94a71" /><Relationship Type="http://schemas.openxmlformats.org/officeDocument/2006/relationships/slideLayout" Target="/ppt/slideLayouts/slideLayout1.xml" Id="Rbf80013a8b1342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80013a8b1342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caec92b3434a48" /><Relationship Type="http://schemas.openxmlformats.org/officeDocument/2006/relationships/notesSlide" Target="/ppt/notesSlides/notesSlide1.xml" Id="R8f01d00a2fae4e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e07584dcbb4aa8" /><Relationship Type="http://schemas.openxmlformats.org/officeDocument/2006/relationships/notesSlide" Target="/ppt/notesSlides/notesSlide2.xml" Id="R4289194a3d0846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5d1ed72253c4483" /><Relationship Type="http://schemas.openxmlformats.org/officeDocument/2006/relationships/notesSlide" Target="/ppt/notesSlides/notesSlide3.xml" Id="R2e262368bfee47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18c298353743be" /><Relationship Type="http://schemas.openxmlformats.org/officeDocument/2006/relationships/notesSlide" Target="/ppt/notesSlides/notesSlide4.xml" Id="R4589d05184a64d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b52bf710154996" /><Relationship Type="http://schemas.openxmlformats.org/officeDocument/2006/relationships/notesSlide" Target="/ppt/notesSlides/notesSlide5.xml" Id="R78972e68414d4d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12c571d14a544de" /><Relationship Type="http://schemas.openxmlformats.org/officeDocument/2006/relationships/notesSlide" Target="/ppt/notesSlides/notesSlide6.xml" Id="R13fc498adb5540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7697c1c4834171" /><Relationship Type="http://schemas.openxmlformats.org/officeDocument/2006/relationships/notesSlide" Target="/ppt/notesSlides/notesSlide7.xml" Id="Re58b155ec2d045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97592adce5413f" /><Relationship Type="http://schemas.openxmlformats.org/officeDocument/2006/relationships/notesSlide" Target="/ppt/notesSlides/notesSlide8.xml" Id="R57272e3e7f904d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ffc0a3c72c4130" /><Relationship Type="http://schemas.openxmlformats.org/officeDocument/2006/relationships/notesSlide" Target="/ppt/notesSlides/notesSlide9.xml" Id="R47951c64b53f47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392e07bac224068" /><Relationship Type="http://schemas.openxmlformats.org/officeDocument/2006/relationships/notesSlide" Target="/ppt/notesSlides/notesSlide10.xml" Id="R2026afde4b0845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ff6617c1f2741fb" /><Relationship Type="http://schemas.openxmlformats.org/officeDocument/2006/relationships/notesSlide" Target="/ppt/notesSlides/notesSlide11.xml" Id="R467b4d05825c435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3b29232487945f1" /><Relationship Type="http://schemas.openxmlformats.org/officeDocument/2006/relationships/notesSlide" Target="/ppt/notesSlides/notesSlide12.xml" Id="R065f7d816339489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ca6bc1ff702431d" /><Relationship Type="http://schemas.openxmlformats.org/officeDocument/2006/relationships/notesSlide" Target="/ppt/notesSlides/notesSlide13.xml" Id="R4c6a7871b979493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8ed2d60fc6e41be" /><Relationship Type="http://schemas.openxmlformats.org/officeDocument/2006/relationships/notesSlide" Target="/ppt/notesSlides/notesSlide14.xml" Id="R1b5a3e2a7e164aad" /></Relationships>
</file>

<file path=ppt/slides/slide1.xml><?xml version="1.0" encoding="utf-8"?>
<p:sld xmlns:p="http://schemas.openxmlformats.org/presentationml/2006/main">
  <p:cSld>
    <p:bg>
      <p:bgPr>
        <a:solidFill xmlns:a="http://schemas.openxmlformats.org/drawingml/2006/main">
          <a:srgbClr val="063B5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D2CDBD-029C-45CB-A0F3-2385497C5D7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7D63F8-1227-478E-9966-A9222F63DBC5}"/>
              </a:ext>
            </a:extLst>
          </p:cNvPr>
          <p:cNvSpPr>
            <a:spLocks xmlns:a="http://schemas.openxmlformats.org/drawingml/2006/main" noGrp="1"/>
          </p:cNvSpPr>
          <p:nvPr/>
        </p:nvSpPr>
        <p:spPr>
          <a:xfrm xmlns:a="http://schemas.openxmlformats.org/drawingml/2006/main">
            <a:off x="8858250" y="0"/>
            <a:ext cx="3333750" cy="6858000"/>
          </a:xfrm>
          <a:prstGeom xmlns:a="http://schemas.openxmlformats.org/drawingml/2006/main" prst="rect">
            <a:avLst/>
          </a:prstGeom>
          <a:solidFill xmlns:a="http://schemas.openxmlformats.org/drawingml/2006/main">
            <a:srgbClr val="0077A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A5B8869-94FD-4F33-B8A3-55D55557A7DD}"/>
              </a:ext>
            </a:extLst>
          </p:cNvPr>
          <p:cNvSpPr>
            <a:spLocks xmlns:a="http://schemas.openxmlformats.org/drawingml/2006/main" noGrp="1"/>
          </p:cNvSpPr>
          <p:nvPr/>
        </p:nvSpPr>
        <p:spPr>
          <a:xfrm xmlns:a="http://schemas.openxmlformats.org/drawingml/2006/main">
            <a:off x="9620250" y="1095375"/>
            <a:ext cx="1524000" cy="4667250"/>
          </a:xfrm>
          <a:prstGeom xmlns:a="http://schemas.openxmlformats.org/drawingml/2006/main" prst="roundRect">
            <a:avLst>
              <a:gd name="adj" fmla="val 5000"/>
            </a:avLst>
          </a:prstGeom>
          <a:solidFill xmlns:a="http://schemas.openxmlformats.org/drawingml/2006/main">
            <a:srgbClr val="EAF4F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327596B-28E5-44D1-8574-23036D4D46B5}"/>
              </a:ext>
            </a:extLst>
          </p:cNvPr>
          <p:cNvSpPr>
            <a:spLocks xmlns:a="http://schemas.openxmlformats.org/drawingml/2006/main" noGrp="1"/>
          </p:cNvSpPr>
          <p:nvPr/>
        </p:nvSpPr>
        <p:spPr>
          <a:xfrm xmlns:a="http://schemas.openxmlformats.org/drawingml/2006/main">
            <a:off x="685800" y="1143000"/>
            <a:ext cx="781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1">
                <a:solidFill>
                  <a:srgbClr val="9DDBEA"/>
                </a:solidFill>
                <a:latin typeface="Arial"/>
                <a:ea typeface="Arial"/>
                <a:cs typeface="Arial"/>
              </a:defRPr>
            </a:pPr>
            <a:r>
              <a:rPr sz="1350" b="1">
                <a:solidFill>
                  <a:srgbClr val="9DDBEA"/>
                </a:solidFill>
                <a:latin typeface="Arial"/>
                <a:ea typeface="Arial"/>
                <a:cs typeface="Arial"/>
              </a:rPr>
              <a:t>CHƯƠNG TRÌNH ĐÀO TẠO</a:t>
            </a:r>
          </a:p>
        </p:txBody>
      </p:sp>
      <p:sp>
        <p:nvSpPr>
          <p:cNvPr id="5" name="">
            <a:extLst xmlns:a="http://schemas.openxmlformats.org/drawingml/2006/main">
              <a:ext uri="{FF2B5EF4-FFF2-40B4-BE49-F238E27FC236}">
                <a16:creationId xmlns:a16="http://schemas.microsoft.com/office/drawing/2014/main" id="{8C1E8D4F-9039-4B74-A1FB-EA328485DC28}"/>
              </a:ext>
            </a:extLst>
          </p:cNvPr>
          <p:cNvSpPr>
            <a:spLocks xmlns:a="http://schemas.openxmlformats.org/drawingml/2006/main" noGrp="1"/>
          </p:cNvSpPr>
          <p:nvPr/>
        </p:nvSpPr>
        <p:spPr>
          <a:xfrm xmlns:a="http://schemas.openxmlformats.org/drawingml/2006/main">
            <a:off x="685800" y="1714500"/>
            <a:ext cx="762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LUẬT ĐẤU THẦU</a:t>
            </a:r>
          </a:p>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VÀ QUY TRÌNH LỰA CHỌN NHÀ THẦU</a:t>
            </a:r>
          </a:p>
        </p:txBody>
      </p:sp>
      <p:sp>
        <p:nvSpPr>
          <p:cNvPr id="6" name="">
            <a:extLst xmlns:a="http://schemas.openxmlformats.org/drawingml/2006/main">
              <a:ext uri="{FF2B5EF4-FFF2-40B4-BE49-F238E27FC236}">
                <a16:creationId xmlns:a16="http://schemas.microsoft.com/office/drawing/2014/main" id="{5BA7D5EA-2978-448D-A7F6-5C3BB8518E05}"/>
              </a:ext>
            </a:extLst>
          </p:cNvPr>
          <p:cNvSpPr>
            <a:spLocks xmlns:a="http://schemas.openxmlformats.org/drawingml/2006/main" noGrp="1"/>
          </p:cNvSpPr>
          <p:nvPr/>
        </p:nvSpPr>
        <p:spPr>
          <a:xfrm xmlns:a="http://schemas.openxmlformats.org/drawingml/2006/main">
            <a:off x="685800" y="3476625"/>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0">
                <a:solidFill>
                  <a:srgbClr val="DCECF2"/>
                </a:solidFill>
                <a:latin typeface="Arial"/>
                <a:ea typeface="Arial"/>
                <a:cs typeface="Arial"/>
              </a:defRPr>
            </a:pPr>
            <a:r>
              <a:rPr sz="1800" b="0">
                <a:solidFill>
                  <a:srgbClr val="DCECF2"/>
                </a:solidFill>
                <a:latin typeface="Arial"/>
                <a:ea typeface="Arial"/>
                <a:cs typeface="Arial"/>
              </a:rPr>
              <a:t>Khung pháp lý chung, thực hành hồ sơ và đối chiếu Viettel</a:t>
            </a:r>
          </a:p>
        </p:txBody>
      </p:sp>
      <p:sp>
        <p:nvSpPr>
          <p:cNvPr id="7" name="">
            <a:extLst xmlns:a="http://schemas.openxmlformats.org/drawingml/2006/main">
              <a:ext uri="{FF2B5EF4-FFF2-40B4-BE49-F238E27FC236}">
                <a16:creationId xmlns:a16="http://schemas.microsoft.com/office/drawing/2014/main" id="{9F7A470D-B8F8-4A86-91CB-68D6BA05BF01}"/>
              </a:ext>
            </a:extLst>
          </p:cNvPr>
          <p:cNvSpPr>
            <a:spLocks xmlns:a="http://schemas.openxmlformats.org/drawingml/2006/main" noGrp="1"/>
          </p:cNvSpPr>
          <p:nvPr/>
        </p:nvSpPr>
        <p:spPr>
          <a:xfrm xmlns:a="http://schemas.openxmlformats.org/drawingml/2006/main">
            <a:off x="685800" y="59055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B7D3DE"/>
                </a:solidFill>
                <a:latin typeface="Arial"/>
                <a:ea typeface="Arial"/>
                <a:cs typeface="Arial"/>
              </a:defRPr>
            </a:pPr>
            <a:r>
              <a:rPr sz="1125" b="0">
                <a:solidFill>
                  <a:srgbClr val="B7D3DE"/>
                </a:solidFill>
                <a:latin typeface="Arial"/>
                <a:ea typeface="Arial"/>
                <a:cs typeface="Arial"/>
              </a:rPr>
              <a:t>Thời lượng: 60 phút  |  Đối tượng: cán bộ mua sắm, nhà thầu</a:t>
            </a:r>
          </a:p>
        </p:txBody>
      </p:sp>
    </p:spTree>
    <p:extLst>
      <p:ext uri="{BB962C8B-B14F-4D97-AF65-F5344CB8AC3E}">
        <p14:creationId xmlns:p14="http://schemas.microsoft.com/office/powerpoint/2010/main" val="12936820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2FA8449-43DA-4785-A757-7AABBEA0C85B}"/>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32DD87-B7E3-4C5B-97E2-F0972AB8FB87}"/>
              </a:ext>
            </a:extLst>
          </p:cNvPr>
          <p:cNvSpPr>
            <a:spLocks xmlns:a="http://schemas.openxmlformats.org/drawingml/2006/main" noGrp="1"/>
          </p:cNvSpPr>
          <p:nvPr/>
        </p:nvSpPr>
        <p:spPr>
          <a:xfrm xmlns:a="http://schemas.openxmlformats.org/drawingml/2006/main">
            <a:off x="609600" y="285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0077A8"/>
                </a:solidFill>
                <a:latin typeface="Arial"/>
                <a:ea typeface="Arial"/>
                <a:cs typeface="Arial"/>
              </a:defRPr>
            </a:pPr>
            <a:r>
              <a:rPr sz="975" b="1">
                <a:solidFill>
                  <a:srgbClr val="0077A8"/>
                </a:solidFill>
                <a:latin typeface="Arial"/>
                <a:ea typeface="Arial"/>
                <a:cs typeface="Arial"/>
              </a:rPr>
              <a:t>LUẬT ĐẤU THẦU | 60 PHÚT</a:t>
            </a:r>
          </a:p>
        </p:txBody>
      </p:sp>
      <p:sp>
        <p:nvSpPr>
          <p:cNvPr id="3" name="">
            <a:extLst xmlns:a="http://schemas.openxmlformats.org/drawingml/2006/main">
              <a:ext uri="{FF2B5EF4-FFF2-40B4-BE49-F238E27FC236}">
                <a16:creationId xmlns:a16="http://schemas.microsoft.com/office/drawing/2014/main" id="{945B0A55-7A34-4F7A-8A03-61A983C3A60E}"/>
              </a:ext>
            </a:extLst>
          </p:cNvPr>
          <p:cNvSpPr>
            <a:spLocks xmlns:a="http://schemas.openxmlformats.org/drawingml/2006/main" noGrp="1"/>
          </p:cNvSpPr>
          <p:nvPr/>
        </p:nvSpPr>
        <p:spPr>
          <a:xfrm xmlns:a="http://schemas.openxmlformats.org/drawingml/2006/main">
            <a:off x="609600" y="590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063B5C"/>
                </a:solidFill>
                <a:latin typeface="Arial"/>
                <a:ea typeface="Arial"/>
                <a:cs typeface="Arial"/>
              </a:defRPr>
            </a:pPr>
            <a:r>
              <a:rPr sz="2550" b="1">
                <a:solidFill>
                  <a:srgbClr val="063B5C"/>
                </a:solidFill>
                <a:latin typeface="Arial"/>
                <a:ea typeface="Arial"/>
                <a:cs typeface="Arial"/>
              </a:rPr>
              <a:t>Lộ trình 60 phút</a:t>
            </a:r>
          </a:p>
        </p:txBody>
      </p:sp>
      <p:sp>
        <p:nvSpPr>
          <p:cNvPr id="4" name="">
            <a:extLst xmlns:a="http://schemas.openxmlformats.org/drawingml/2006/main">
              <a:ext uri="{FF2B5EF4-FFF2-40B4-BE49-F238E27FC236}">
                <a16:creationId xmlns:a16="http://schemas.microsoft.com/office/drawing/2014/main" id="{5702F0D4-4AFA-494D-9618-324D1768040D}"/>
              </a:ext>
            </a:extLst>
          </p:cNvPr>
          <p:cNvSpPr>
            <a:spLocks xmlns:a="http://schemas.openxmlformats.org/drawingml/2006/main" noGrp="1"/>
          </p:cNvSpPr>
          <p:nvPr/>
        </p:nvSpPr>
        <p:spPr>
          <a:xfrm xmlns:a="http://schemas.openxmlformats.org/drawingml/2006/main">
            <a:off x="609600" y="65151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0">
                <a:solidFill>
                  <a:srgbClr val="5C6B73"/>
                </a:solidFill>
                <a:latin typeface="Arial"/>
                <a:ea typeface="Arial"/>
                <a:cs typeface="Arial"/>
              </a:defRPr>
            </a:pPr>
            <a:r>
              <a:rPr sz="750" b="0">
                <a:solidFill>
                  <a:srgbClr val="5C6B73"/>
                </a:solidFill>
                <a:latin typeface="Arial"/>
                <a:ea typeface="Arial"/>
                <a:cs typeface="Arial"/>
              </a:rPr>
              <a:t>Nguồn: Luật Đấu thầu hợp nhất 22/2023, sửa đổi 57/2024 và 90/2025; NĐ 214/2025; NĐ 349/2026; tài liệu nội bộ Viettel 2026</a:t>
            </a:r>
          </a:p>
        </p:txBody>
      </p:sp>
      <p:sp>
        <p:nvSpPr>
          <p:cNvPr id="5" name="">
            <a:extLst xmlns:a="http://schemas.openxmlformats.org/drawingml/2006/main">
              <a:ext uri="{FF2B5EF4-FFF2-40B4-BE49-F238E27FC236}">
                <a16:creationId xmlns:a16="http://schemas.microsoft.com/office/drawing/2014/main" id="{BA70D2A6-0A9D-4F3F-979F-5C645464E717}"/>
              </a:ext>
            </a:extLst>
          </p:cNvPr>
          <p:cNvSpPr>
            <a:spLocks xmlns:a="http://schemas.openxmlformats.org/drawingml/2006/main" noGrp="1"/>
          </p:cNvSpPr>
          <p:nvPr/>
        </p:nvSpPr>
        <p:spPr>
          <a:xfrm xmlns:a="http://schemas.openxmlformats.org/drawingml/2006/main">
            <a:off x="857250" y="1476375"/>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E70BBCF-91BC-42E6-9DA6-CB4BFAD2035A}"/>
              </a:ext>
            </a:extLst>
          </p:cNvPr>
          <p:cNvSpPr>
            <a:spLocks xmlns:a="http://schemas.openxmlformats.org/drawingml/2006/main" noGrp="1"/>
          </p:cNvSpPr>
          <p:nvPr/>
        </p:nvSpPr>
        <p:spPr>
          <a:xfrm xmlns:a="http://schemas.openxmlformats.org/drawingml/2006/main">
            <a:off x="1123950" y="1400175"/>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a:solidFill>
                  <a:srgbClr val="173042"/>
                </a:solidFill>
                <a:latin typeface="Arial"/>
                <a:ea typeface="Arial"/>
                <a:cs typeface="Arial"/>
              </a:defRPr>
            </a:pPr>
            <a:r>
              <a:rPr sz="1725" b="0">
                <a:solidFill>
                  <a:srgbClr val="173042"/>
                </a:solidFill>
                <a:latin typeface="Arial"/>
                <a:ea typeface="Arial"/>
                <a:cs typeface="Arial"/>
              </a:rPr>
              <a:t>10 phút  |  Khung pháp lý và nguyên tắc</a:t>
            </a:r>
          </a:p>
        </p:txBody>
      </p:sp>
      <p:sp>
        <p:nvSpPr>
          <p:cNvPr id="7" name="">
            <a:extLst xmlns:a="http://schemas.openxmlformats.org/drawingml/2006/main">
              <a:ext uri="{FF2B5EF4-FFF2-40B4-BE49-F238E27FC236}">
                <a16:creationId xmlns:a16="http://schemas.microsoft.com/office/drawing/2014/main" id="{04BE6D2B-CE21-4094-8A13-FF0BA8AC4748}"/>
              </a:ext>
            </a:extLst>
          </p:cNvPr>
          <p:cNvSpPr>
            <a:spLocks xmlns:a="http://schemas.openxmlformats.org/drawingml/2006/main" noGrp="1"/>
          </p:cNvSpPr>
          <p:nvPr/>
        </p:nvSpPr>
        <p:spPr>
          <a:xfrm xmlns:a="http://schemas.openxmlformats.org/drawingml/2006/main">
            <a:off x="857250" y="211455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E76CD61-27AC-41C3-8770-365188B74136}"/>
              </a:ext>
            </a:extLst>
          </p:cNvPr>
          <p:cNvSpPr>
            <a:spLocks xmlns:a="http://schemas.openxmlformats.org/drawingml/2006/main" noGrp="1"/>
          </p:cNvSpPr>
          <p:nvPr/>
        </p:nvSpPr>
        <p:spPr>
          <a:xfrm xmlns:a="http://schemas.openxmlformats.org/drawingml/2006/main">
            <a:off x="1123950" y="2038350"/>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a:solidFill>
                  <a:srgbClr val="173042"/>
                </a:solidFill>
                <a:latin typeface="Arial"/>
                <a:ea typeface="Arial"/>
                <a:cs typeface="Arial"/>
              </a:defRPr>
            </a:pPr>
            <a:r>
              <a:rPr sz="1725" b="0">
                <a:solidFill>
                  <a:srgbClr val="173042"/>
                </a:solidFill>
                <a:latin typeface="Arial"/>
                <a:ea typeface="Arial"/>
                <a:cs typeface="Arial"/>
              </a:rPr>
              <a:t>12 phút  |  Hình thức và phương thức lựa chọn nhà thầu</a:t>
            </a:r>
          </a:p>
        </p:txBody>
      </p:sp>
      <p:sp>
        <p:nvSpPr>
          <p:cNvPr id="9" name="">
            <a:extLst xmlns:a="http://schemas.openxmlformats.org/drawingml/2006/main">
              <a:ext uri="{FF2B5EF4-FFF2-40B4-BE49-F238E27FC236}">
                <a16:creationId xmlns:a16="http://schemas.microsoft.com/office/drawing/2014/main" id="{4EEEE787-8F10-4131-92D4-B26FD3190107}"/>
              </a:ext>
            </a:extLst>
          </p:cNvPr>
          <p:cNvSpPr>
            <a:spLocks xmlns:a="http://schemas.openxmlformats.org/drawingml/2006/main" noGrp="1"/>
          </p:cNvSpPr>
          <p:nvPr/>
        </p:nvSpPr>
        <p:spPr>
          <a:xfrm xmlns:a="http://schemas.openxmlformats.org/drawingml/2006/main">
            <a:off x="857250" y="2752725"/>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A3E4C48-A97D-4F61-9725-C4F5369547E9}"/>
              </a:ext>
            </a:extLst>
          </p:cNvPr>
          <p:cNvSpPr>
            <a:spLocks xmlns:a="http://schemas.openxmlformats.org/drawingml/2006/main" noGrp="1"/>
          </p:cNvSpPr>
          <p:nvPr/>
        </p:nvSpPr>
        <p:spPr>
          <a:xfrm xmlns:a="http://schemas.openxmlformats.org/drawingml/2006/main">
            <a:off x="1123950" y="2676525"/>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a:solidFill>
                  <a:srgbClr val="173042"/>
                </a:solidFill>
                <a:latin typeface="Arial"/>
                <a:ea typeface="Arial"/>
                <a:cs typeface="Arial"/>
              </a:defRPr>
            </a:pPr>
            <a:r>
              <a:rPr sz="1725" b="0">
                <a:solidFill>
                  <a:srgbClr val="173042"/>
                </a:solidFill>
                <a:latin typeface="Arial"/>
                <a:ea typeface="Arial"/>
                <a:cs typeface="Arial"/>
              </a:rPr>
              <a:t>12 phút  |  So sánh Viettel với Luật Đấu thầu</a:t>
            </a:r>
          </a:p>
        </p:txBody>
      </p:sp>
      <p:sp>
        <p:nvSpPr>
          <p:cNvPr id="11" name="">
            <a:extLst xmlns:a="http://schemas.openxmlformats.org/drawingml/2006/main">
              <a:ext uri="{FF2B5EF4-FFF2-40B4-BE49-F238E27FC236}">
                <a16:creationId xmlns:a16="http://schemas.microsoft.com/office/drawing/2014/main" id="{E457DEAD-5D23-4BC4-967C-3AB8BBE9E415}"/>
              </a:ext>
            </a:extLst>
          </p:cNvPr>
          <p:cNvSpPr>
            <a:spLocks xmlns:a="http://schemas.openxmlformats.org/drawingml/2006/main" noGrp="1"/>
          </p:cNvSpPr>
          <p:nvPr/>
        </p:nvSpPr>
        <p:spPr>
          <a:xfrm xmlns:a="http://schemas.openxmlformats.org/drawingml/2006/main">
            <a:off x="857250" y="339090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D6D1D02-D7BF-42F2-BE9B-D4FBDE0968FD}"/>
              </a:ext>
            </a:extLst>
          </p:cNvPr>
          <p:cNvSpPr>
            <a:spLocks xmlns:a="http://schemas.openxmlformats.org/drawingml/2006/main" noGrp="1"/>
          </p:cNvSpPr>
          <p:nvPr/>
        </p:nvSpPr>
        <p:spPr>
          <a:xfrm xmlns:a="http://schemas.openxmlformats.org/drawingml/2006/main">
            <a:off x="1123950" y="3314700"/>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a:solidFill>
                  <a:srgbClr val="173042"/>
                </a:solidFill>
                <a:latin typeface="Arial"/>
                <a:ea typeface="Arial"/>
                <a:cs typeface="Arial"/>
              </a:defRPr>
            </a:pPr>
            <a:r>
              <a:rPr sz="1725" b="0">
                <a:solidFill>
                  <a:srgbClr val="173042"/>
                </a:solidFill>
                <a:latin typeface="Arial"/>
                <a:ea typeface="Arial"/>
                <a:cs typeface="Arial"/>
              </a:rPr>
              <a:t>10 phút  |  Các mốc thời gian cần nhớ</a:t>
            </a:r>
          </a:p>
        </p:txBody>
      </p:sp>
      <p:sp>
        <p:nvSpPr>
          <p:cNvPr id="13" name="">
            <a:extLst xmlns:a="http://schemas.openxmlformats.org/drawingml/2006/main">
              <a:ext uri="{FF2B5EF4-FFF2-40B4-BE49-F238E27FC236}">
                <a16:creationId xmlns:a16="http://schemas.microsoft.com/office/drawing/2014/main" id="{9BE07585-56FD-4808-89D7-3C4C4C861D35}"/>
              </a:ext>
            </a:extLst>
          </p:cNvPr>
          <p:cNvSpPr>
            <a:spLocks xmlns:a="http://schemas.openxmlformats.org/drawingml/2006/main" noGrp="1"/>
          </p:cNvSpPr>
          <p:nvPr/>
        </p:nvSpPr>
        <p:spPr>
          <a:xfrm xmlns:a="http://schemas.openxmlformats.org/drawingml/2006/main">
            <a:off x="857250" y="4029075"/>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67A5DC8-C67E-41BD-ADF3-2973FD80A515}"/>
              </a:ext>
            </a:extLst>
          </p:cNvPr>
          <p:cNvSpPr>
            <a:spLocks xmlns:a="http://schemas.openxmlformats.org/drawingml/2006/main" noGrp="1"/>
          </p:cNvSpPr>
          <p:nvPr/>
        </p:nvSpPr>
        <p:spPr>
          <a:xfrm xmlns:a="http://schemas.openxmlformats.org/drawingml/2006/main">
            <a:off x="1123950" y="3952875"/>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a:solidFill>
                  <a:srgbClr val="173042"/>
                </a:solidFill>
                <a:latin typeface="Arial"/>
                <a:ea typeface="Arial"/>
                <a:cs typeface="Arial"/>
              </a:defRPr>
            </a:pPr>
            <a:r>
              <a:rPr sz="1725" b="0">
                <a:solidFill>
                  <a:srgbClr val="173042"/>
                </a:solidFill>
                <a:latin typeface="Arial"/>
                <a:ea typeface="Arial"/>
                <a:cs typeface="Arial"/>
              </a:rPr>
              <a:t>12 phút  |  Đọc một bộ HSMT điển hình</a:t>
            </a:r>
          </a:p>
        </p:txBody>
      </p:sp>
      <p:sp>
        <p:nvSpPr>
          <p:cNvPr id="15" name="">
            <a:extLst xmlns:a="http://schemas.openxmlformats.org/drawingml/2006/main">
              <a:ext uri="{FF2B5EF4-FFF2-40B4-BE49-F238E27FC236}">
                <a16:creationId xmlns:a16="http://schemas.microsoft.com/office/drawing/2014/main" id="{CE6E55BF-9591-426D-87DA-4E8D75B6883E}"/>
              </a:ext>
            </a:extLst>
          </p:cNvPr>
          <p:cNvSpPr>
            <a:spLocks xmlns:a="http://schemas.openxmlformats.org/drawingml/2006/main" noGrp="1"/>
          </p:cNvSpPr>
          <p:nvPr/>
        </p:nvSpPr>
        <p:spPr>
          <a:xfrm xmlns:a="http://schemas.openxmlformats.org/drawingml/2006/main">
            <a:off x="857250" y="466725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0887628-2DB2-442E-AEE8-962586681AC1}"/>
              </a:ext>
            </a:extLst>
          </p:cNvPr>
          <p:cNvSpPr>
            <a:spLocks xmlns:a="http://schemas.openxmlformats.org/drawingml/2006/main" noGrp="1"/>
          </p:cNvSpPr>
          <p:nvPr/>
        </p:nvSpPr>
        <p:spPr>
          <a:xfrm xmlns:a="http://schemas.openxmlformats.org/drawingml/2006/main">
            <a:off x="1123950" y="4591050"/>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a:solidFill>
                  <a:srgbClr val="173042"/>
                </a:solidFill>
                <a:latin typeface="Arial"/>
                <a:ea typeface="Arial"/>
                <a:cs typeface="Arial"/>
              </a:defRPr>
            </a:pPr>
            <a:r>
              <a:rPr sz="1725" b="0">
                <a:solidFill>
                  <a:srgbClr val="173042"/>
                </a:solidFill>
                <a:latin typeface="Arial"/>
                <a:ea typeface="Arial"/>
                <a:cs typeface="Arial"/>
              </a:rPr>
              <a:t>4 phút   |  Tình huống và chốt việc cần làm</a:t>
            </a:r>
          </a:p>
        </p:txBody>
      </p:sp>
    </p:spTree>
    <p:extLst>
      <p:ext uri="{BB962C8B-B14F-4D97-AF65-F5344CB8AC3E}">
        <p14:creationId xmlns:p14="http://schemas.microsoft.com/office/powerpoint/2010/main" val="14229523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4BAF614-D3C5-4C10-88BF-2BFEDEC1480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6B9589-74DC-4FFD-B706-6ECDA79632A1}"/>
              </a:ext>
            </a:extLst>
          </p:cNvPr>
          <p:cNvSpPr>
            <a:spLocks xmlns:a="http://schemas.openxmlformats.org/drawingml/2006/main" noGrp="1"/>
          </p:cNvSpPr>
          <p:nvPr/>
        </p:nvSpPr>
        <p:spPr>
          <a:xfrm xmlns:a="http://schemas.openxmlformats.org/drawingml/2006/main">
            <a:off x="609600" y="285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0077A8"/>
                </a:solidFill>
                <a:latin typeface="Arial"/>
                <a:ea typeface="Arial"/>
                <a:cs typeface="Arial"/>
              </a:defRPr>
            </a:pPr>
            <a:r>
              <a:rPr sz="975" b="1">
                <a:solidFill>
                  <a:srgbClr val="0077A8"/>
                </a:solidFill>
                <a:latin typeface="Arial"/>
                <a:ea typeface="Arial"/>
                <a:cs typeface="Arial"/>
              </a:rPr>
              <a:t>LUẬT ĐẤU THẦU | 60 PHÚT</a:t>
            </a:r>
          </a:p>
        </p:txBody>
      </p:sp>
      <p:sp>
        <p:nvSpPr>
          <p:cNvPr id="3" name="">
            <a:extLst xmlns:a="http://schemas.openxmlformats.org/drawingml/2006/main">
              <a:ext uri="{FF2B5EF4-FFF2-40B4-BE49-F238E27FC236}">
                <a16:creationId xmlns:a16="http://schemas.microsoft.com/office/drawing/2014/main" id="{5CDE1C37-C3A7-4F31-AF1B-A37595D615F9}"/>
              </a:ext>
            </a:extLst>
          </p:cNvPr>
          <p:cNvSpPr>
            <a:spLocks xmlns:a="http://schemas.openxmlformats.org/drawingml/2006/main" noGrp="1"/>
          </p:cNvSpPr>
          <p:nvPr/>
        </p:nvSpPr>
        <p:spPr>
          <a:xfrm xmlns:a="http://schemas.openxmlformats.org/drawingml/2006/main">
            <a:off x="609600" y="590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063B5C"/>
                </a:solidFill>
                <a:latin typeface="Arial"/>
                <a:ea typeface="Arial"/>
                <a:cs typeface="Arial"/>
              </a:defRPr>
            </a:pPr>
            <a:r>
              <a:rPr sz="2550" b="1">
                <a:solidFill>
                  <a:srgbClr val="063B5C"/>
                </a:solidFill>
                <a:latin typeface="Arial"/>
                <a:ea typeface="Arial"/>
                <a:cs typeface="Arial"/>
              </a:rPr>
              <a:t>Luật Đấu thầu điều chỉnh điều gì?</a:t>
            </a:r>
          </a:p>
        </p:txBody>
      </p:sp>
      <p:sp>
        <p:nvSpPr>
          <p:cNvPr id="4" name="">
            <a:extLst xmlns:a="http://schemas.openxmlformats.org/drawingml/2006/main">
              <a:ext uri="{FF2B5EF4-FFF2-40B4-BE49-F238E27FC236}">
                <a16:creationId xmlns:a16="http://schemas.microsoft.com/office/drawing/2014/main" id="{CEBAAFC8-1763-4A6D-B02C-A9BA677D0170}"/>
              </a:ext>
            </a:extLst>
          </p:cNvPr>
          <p:cNvSpPr>
            <a:spLocks xmlns:a="http://schemas.openxmlformats.org/drawingml/2006/main" noGrp="1"/>
          </p:cNvSpPr>
          <p:nvPr/>
        </p:nvSpPr>
        <p:spPr>
          <a:xfrm xmlns:a="http://schemas.openxmlformats.org/drawingml/2006/main">
            <a:off x="609600" y="65151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0">
                <a:solidFill>
                  <a:srgbClr val="5C6B73"/>
                </a:solidFill>
                <a:latin typeface="Arial"/>
                <a:ea typeface="Arial"/>
                <a:cs typeface="Arial"/>
              </a:defRPr>
            </a:pPr>
            <a:r>
              <a:rPr sz="750" b="0">
                <a:solidFill>
                  <a:srgbClr val="5C6B73"/>
                </a:solidFill>
                <a:latin typeface="Arial"/>
                <a:ea typeface="Arial"/>
                <a:cs typeface="Arial"/>
              </a:rPr>
              <a:t>Nguồn: Luật Đấu thầu hợp nhất 22/2023, sửa đổi 57/2024 và 90/2025; NĐ 214/2025; NĐ 349/2026; tài liệu nội bộ Viettel 2026</a:t>
            </a:r>
          </a:p>
        </p:txBody>
      </p:sp>
      <p:sp>
        <p:nvSpPr>
          <p:cNvPr id="5" name="">
            <a:extLst xmlns:a="http://schemas.openxmlformats.org/drawingml/2006/main">
              <a:ext uri="{FF2B5EF4-FFF2-40B4-BE49-F238E27FC236}">
                <a16:creationId xmlns:a16="http://schemas.microsoft.com/office/drawing/2014/main" id="{1B64448E-0562-4670-8371-6505B30E428F}"/>
              </a:ext>
            </a:extLst>
          </p:cNvPr>
          <p:cNvSpPr>
            <a:spLocks xmlns:a="http://schemas.openxmlformats.org/drawingml/2006/main" noGrp="1"/>
          </p:cNvSpPr>
          <p:nvPr/>
        </p:nvSpPr>
        <p:spPr>
          <a:xfrm xmlns:a="http://schemas.openxmlformats.org/drawingml/2006/main">
            <a:off x="762000" y="15240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0077A8"/>
                </a:solidFill>
                <a:latin typeface="Arial"/>
                <a:ea typeface="Arial"/>
                <a:cs typeface="Arial"/>
              </a:defRPr>
            </a:pPr>
            <a:r>
              <a:rPr sz="1500" b="1">
                <a:solidFill>
                  <a:srgbClr val="0077A8"/>
                </a:solidFill>
                <a:latin typeface="Arial"/>
                <a:ea typeface="Arial"/>
                <a:cs typeface="Arial"/>
              </a:rPr>
              <a:t>Phạm vi</a:t>
            </a:r>
          </a:p>
        </p:txBody>
      </p:sp>
      <p:sp>
        <p:nvSpPr>
          <p:cNvPr id="6" name="">
            <a:extLst xmlns:a="http://schemas.openxmlformats.org/drawingml/2006/main">
              <a:ext uri="{FF2B5EF4-FFF2-40B4-BE49-F238E27FC236}">
                <a16:creationId xmlns:a16="http://schemas.microsoft.com/office/drawing/2014/main" id="{6358AF4F-9354-4556-AD2B-FF080B2503AF}"/>
              </a:ext>
            </a:extLst>
          </p:cNvPr>
          <p:cNvSpPr>
            <a:spLocks xmlns:a="http://schemas.openxmlformats.org/drawingml/2006/main" noGrp="1"/>
          </p:cNvSpPr>
          <p:nvPr/>
        </p:nvSpPr>
        <p:spPr>
          <a:xfrm xmlns:a="http://schemas.openxmlformats.org/drawingml/2006/main">
            <a:off x="857250" y="209550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B40636C-3ACB-44E0-B187-BDBD242CE3F0}"/>
              </a:ext>
            </a:extLst>
          </p:cNvPr>
          <p:cNvSpPr>
            <a:spLocks xmlns:a="http://schemas.openxmlformats.org/drawingml/2006/main" noGrp="1"/>
          </p:cNvSpPr>
          <p:nvPr/>
        </p:nvSpPr>
        <p:spPr>
          <a:xfrm xmlns:a="http://schemas.openxmlformats.org/drawingml/2006/main">
            <a:off x="1123950" y="2019300"/>
            <a:ext cx="4210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173042"/>
                </a:solidFill>
                <a:latin typeface="Arial"/>
                <a:ea typeface="Arial"/>
                <a:cs typeface="Arial"/>
              </a:defRPr>
            </a:pPr>
            <a:r>
              <a:rPr sz="1575" b="0">
                <a:solidFill>
                  <a:srgbClr val="173042"/>
                </a:solidFill>
                <a:latin typeface="Arial"/>
                <a:ea typeface="Arial"/>
                <a:cs typeface="Arial"/>
              </a:rPr>
              <a:t>Quản lý nhà nước về đấu thầu</a:t>
            </a:r>
          </a:p>
        </p:txBody>
      </p:sp>
      <p:sp>
        <p:nvSpPr>
          <p:cNvPr id="8" name="">
            <a:extLst xmlns:a="http://schemas.openxmlformats.org/drawingml/2006/main">
              <a:ext uri="{FF2B5EF4-FFF2-40B4-BE49-F238E27FC236}">
                <a16:creationId xmlns:a16="http://schemas.microsoft.com/office/drawing/2014/main" id="{AABF1685-DE13-4A89-BC52-6E348EE6C6E1}"/>
              </a:ext>
            </a:extLst>
          </p:cNvPr>
          <p:cNvSpPr>
            <a:spLocks xmlns:a="http://schemas.openxmlformats.org/drawingml/2006/main" noGrp="1"/>
          </p:cNvSpPr>
          <p:nvPr/>
        </p:nvSpPr>
        <p:spPr>
          <a:xfrm xmlns:a="http://schemas.openxmlformats.org/drawingml/2006/main">
            <a:off x="857250" y="266700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9C0BC26-0681-4AB6-841E-0464DBD16476}"/>
              </a:ext>
            </a:extLst>
          </p:cNvPr>
          <p:cNvSpPr>
            <a:spLocks xmlns:a="http://schemas.openxmlformats.org/drawingml/2006/main" noGrp="1"/>
          </p:cNvSpPr>
          <p:nvPr/>
        </p:nvSpPr>
        <p:spPr>
          <a:xfrm xmlns:a="http://schemas.openxmlformats.org/drawingml/2006/main">
            <a:off x="1123950" y="2590800"/>
            <a:ext cx="4210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173042"/>
                </a:solidFill>
                <a:latin typeface="Arial"/>
                <a:ea typeface="Arial"/>
                <a:cs typeface="Arial"/>
              </a:defRPr>
            </a:pPr>
            <a:r>
              <a:rPr sz="1575" b="0">
                <a:solidFill>
                  <a:srgbClr val="173042"/>
                </a:solidFill>
                <a:latin typeface="Arial"/>
                <a:ea typeface="Arial"/>
                <a:cs typeface="Arial"/>
              </a:rPr>
              <a:t>Thẩm quyền, trách nhiệm của các bên</a:t>
            </a:r>
          </a:p>
        </p:txBody>
      </p:sp>
      <p:sp>
        <p:nvSpPr>
          <p:cNvPr id="10" name="">
            <a:extLst xmlns:a="http://schemas.openxmlformats.org/drawingml/2006/main">
              <a:ext uri="{FF2B5EF4-FFF2-40B4-BE49-F238E27FC236}">
                <a16:creationId xmlns:a16="http://schemas.microsoft.com/office/drawing/2014/main" id="{C409D092-71D8-4AC7-B4A1-B05B3E3457A3}"/>
              </a:ext>
            </a:extLst>
          </p:cNvPr>
          <p:cNvSpPr>
            <a:spLocks xmlns:a="http://schemas.openxmlformats.org/drawingml/2006/main" noGrp="1"/>
          </p:cNvSpPr>
          <p:nvPr/>
        </p:nvSpPr>
        <p:spPr>
          <a:xfrm xmlns:a="http://schemas.openxmlformats.org/drawingml/2006/main">
            <a:off x="857250" y="323850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F8D6255-EF23-4E9A-83C4-14CB639F3E3F}"/>
              </a:ext>
            </a:extLst>
          </p:cNvPr>
          <p:cNvSpPr>
            <a:spLocks xmlns:a="http://schemas.openxmlformats.org/drawingml/2006/main" noGrp="1"/>
          </p:cNvSpPr>
          <p:nvPr/>
        </p:nvSpPr>
        <p:spPr>
          <a:xfrm xmlns:a="http://schemas.openxmlformats.org/drawingml/2006/main">
            <a:off x="1123950" y="3162300"/>
            <a:ext cx="4210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173042"/>
                </a:solidFill>
                <a:latin typeface="Arial"/>
                <a:ea typeface="Arial"/>
                <a:cs typeface="Arial"/>
              </a:defRPr>
            </a:pPr>
            <a:r>
              <a:rPr sz="1575" b="0">
                <a:solidFill>
                  <a:srgbClr val="173042"/>
                </a:solidFill>
                <a:latin typeface="Arial"/>
                <a:ea typeface="Arial"/>
                <a:cs typeface="Arial"/>
              </a:rPr>
              <a:t>Lựa chọn nhà thầu và nhà đầu tư</a:t>
            </a:r>
          </a:p>
        </p:txBody>
      </p:sp>
      <p:sp>
        <p:nvSpPr>
          <p:cNvPr id="12" name="">
            <a:extLst xmlns:a="http://schemas.openxmlformats.org/drawingml/2006/main">
              <a:ext uri="{FF2B5EF4-FFF2-40B4-BE49-F238E27FC236}">
                <a16:creationId xmlns:a16="http://schemas.microsoft.com/office/drawing/2014/main" id="{6C52B425-645F-4A0B-AFD0-FD425BBCE842}"/>
              </a:ext>
            </a:extLst>
          </p:cNvPr>
          <p:cNvSpPr>
            <a:spLocks xmlns:a="http://schemas.openxmlformats.org/drawingml/2006/main" noGrp="1"/>
          </p:cNvSpPr>
          <p:nvPr/>
        </p:nvSpPr>
        <p:spPr>
          <a:xfrm xmlns:a="http://schemas.openxmlformats.org/drawingml/2006/main">
            <a:off x="6477000" y="1476375"/>
            <a:ext cx="4476750" cy="3714750"/>
          </a:xfrm>
          <a:prstGeom xmlns:a="http://schemas.openxmlformats.org/drawingml/2006/main" prst="roundRect">
            <a:avLst>
              <a:gd name="adj" fmla="val 2051"/>
            </a:avLst>
          </a:prstGeom>
          <a:solidFill xmlns:a="http://schemas.openxmlformats.org/drawingml/2006/main">
            <a:srgbClr val="EAF4F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8CD31D7-8A70-409C-AC21-66FBFE5F31EF}"/>
              </a:ext>
            </a:extLst>
          </p:cNvPr>
          <p:cNvSpPr>
            <a:spLocks xmlns:a="http://schemas.openxmlformats.org/drawingml/2006/main" noGrp="1"/>
          </p:cNvSpPr>
          <p:nvPr/>
        </p:nvSpPr>
        <p:spPr>
          <a:xfrm xmlns:a="http://schemas.openxmlformats.org/drawingml/2006/main">
            <a:off x="6858000" y="180975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1">
                <a:solidFill>
                  <a:srgbClr val="063B5C"/>
                </a:solidFill>
                <a:latin typeface="Arial"/>
                <a:ea typeface="Arial"/>
                <a:cs typeface="Arial"/>
              </a:defRPr>
            </a:pPr>
            <a:r>
              <a:rPr sz="1800" b="1">
                <a:solidFill>
                  <a:srgbClr val="063B5C"/>
                </a:solidFill>
                <a:latin typeface="Arial"/>
                <a:ea typeface="Arial"/>
                <a:cs typeface="Arial"/>
              </a:rPr>
              <a:t>4 nguyên tắc phải giữ</a:t>
            </a:r>
          </a:p>
        </p:txBody>
      </p:sp>
      <p:sp>
        <p:nvSpPr>
          <p:cNvPr id="14" name="">
            <a:extLst xmlns:a="http://schemas.openxmlformats.org/drawingml/2006/main">
              <a:ext uri="{FF2B5EF4-FFF2-40B4-BE49-F238E27FC236}">
                <a16:creationId xmlns:a16="http://schemas.microsoft.com/office/drawing/2014/main" id="{B56AFECA-425F-40AD-AE27-4C3958C01810}"/>
              </a:ext>
            </a:extLst>
          </p:cNvPr>
          <p:cNvSpPr>
            <a:spLocks xmlns:a="http://schemas.openxmlformats.org/drawingml/2006/main" noGrp="1"/>
          </p:cNvSpPr>
          <p:nvPr/>
        </p:nvSpPr>
        <p:spPr>
          <a:xfrm xmlns:a="http://schemas.openxmlformats.org/drawingml/2006/main">
            <a:off x="6858000" y="257175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DEDC5FC-E525-404B-B773-A2ADCB1DFB14}"/>
              </a:ext>
            </a:extLst>
          </p:cNvPr>
          <p:cNvSpPr>
            <a:spLocks xmlns:a="http://schemas.openxmlformats.org/drawingml/2006/main" noGrp="1"/>
          </p:cNvSpPr>
          <p:nvPr/>
        </p:nvSpPr>
        <p:spPr>
          <a:xfrm xmlns:a="http://schemas.openxmlformats.org/drawingml/2006/main">
            <a:off x="7124700" y="2495550"/>
            <a:ext cx="3067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173042"/>
                </a:solidFill>
                <a:latin typeface="Arial"/>
                <a:ea typeface="Arial"/>
                <a:cs typeface="Arial"/>
              </a:defRPr>
            </a:pPr>
            <a:r>
              <a:rPr sz="1575" b="0">
                <a:solidFill>
                  <a:srgbClr val="173042"/>
                </a:solidFill>
                <a:latin typeface="Arial"/>
                <a:ea typeface="Arial"/>
                <a:cs typeface="Arial"/>
              </a:rPr>
              <a:t>Cạnh tranh</a:t>
            </a:r>
          </a:p>
        </p:txBody>
      </p:sp>
      <p:sp>
        <p:nvSpPr>
          <p:cNvPr id="16" name="">
            <a:extLst xmlns:a="http://schemas.openxmlformats.org/drawingml/2006/main">
              <a:ext uri="{FF2B5EF4-FFF2-40B4-BE49-F238E27FC236}">
                <a16:creationId xmlns:a16="http://schemas.microsoft.com/office/drawing/2014/main" id="{B09D0BB5-B0EF-4038-9D2C-8292C7FB23E6}"/>
              </a:ext>
            </a:extLst>
          </p:cNvPr>
          <p:cNvSpPr>
            <a:spLocks xmlns:a="http://schemas.openxmlformats.org/drawingml/2006/main" noGrp="1"/>
          </p:cNvSpPr>
          <p:nvPr/>
        </p:nvSpPr>
        <p:spPr>
          <a:xfrm xmlns:a="http://schemas.openxmlformats.org/drawingml/2006/main">
            <a:off x="6858000" y="312420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FF85824-7786-47A3-82E0-CA6F2E53D6B5}"/>
              </a:ext>
            </a:extLst>
          </p:cNvPr>
          <p:cNvSpPr>
            <a:spLocks xmlns:a="http://schemas.openxmlformats.org/drawingml/2006/main" noGrp="1"/>
          </p:cNvSpPr>
          <p:nvPr/>
        </p:nvSpPr>
        <p:spPr>
          <a:xfrm xmlns:a="http://schemas.openxmlformats.org/drawingml/2006/main">
            <a:off x="7124700" y="3048000"/>
            <a:ext cx="3067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173042"/>
                </a:solidFill>
                <a:latin typeface="Arial"/>
                <a:ea typeface="Arial"/>
                <a:cs typeface="Arial"/>
              </a:defRPr>
            </a:pPr>
            <a:r>
              <a:rPr sz="1575" b="0">
                <a:solidFill>
                  <a:srgbClr val="173042"/>
                </a:solidFill>
                <a:latin typeface="Arial"/>
                <a:ea typeface="Arial"/>
                <a:cs typeface="Arial"/>
              </a:rPr>
              <a:t>Công bằng</a:t>
            </a:r>
          </a:p>
        </p:txBody>
      </p:sp>
      <p:sp>
        <p:nvSpPr>
          <p:cNvPr id="18" name="">
            <a:extLst xmlns:a="http://schemas.openxmlformats.org/drawingml/2006/main">
              <a:ext uri="{FF2B5EF4-FFF2-40B4-BE49-F238E27FC236}">
                <a16:creationId xmlns:a16="http://schemas.microsoft.com/office/drawing/2014/main" id="{EF054625-2148-490E-9836-E9FCA1E1FC22}"/>
              </a:ext>
            </a:extLst>
          </p:cNvPr>
          <p:cNvSpPr>
            <a:spLocks xmlns:a="http://schemas.openxmlformats.org/drawingml/2006/main" noGrp="1"/>
          </p:cNvSpPr>
          <p:nvPr/>
        </p:nvSpPr>
        <p:spPr>
          <a:xfrm xmlns:a="http://schemas.openxmlformats.org/drawingml/2006/main">
            <a:off x="6858000" y="367665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71D23E7-DA71-4897-917B-467C163A4CDE}"/>
              </a:ext>
            </a:extLst>
          </p:cNvPr>
          <p:cNvSpPr>
            <a:spLocks xmlns:a="http://schemas.openxmlformats.org/drawingml/2006/main" noGrp="1"/>
          </p:cNvSpPr>
          <p:nvPr/>
        </p:nvSpPr>
        <p:spPr>
          <a:xfrm xmlns:a="http://schemas.openxmlformats.org/drawingml/2006/main">
            <a:off x="7124700" y="3600450"/>
            <a:ext cx="3067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173042"/>
                </a:solidFill>
                <a:latin typeface="Arial"/>
                <a:ea typeface="Arial"/>
                <a:cs typeface="Arial"/>
              </a:defRPr>
            </a:pPr>
            <a:r>
              <a:rPr sz="1575" b="0">
                <a:solidFill>
                  <a:srgbClr val="173042"/>
                </a:solidFill>
                <a:latin typeface="Arial"/>
                <a:ea typeface="Arial"/>
                <a:cs typeface="Arial"/>
              </a:rPr>
              <a:t>Minh bạch</a:t>
            </a:r>
          </a:p>
        </p:txBody>
      </p:sp>
      <p:sp>
        <p:nvSpPr>
          <p:cNvPr id="20" name="">
            <a:extLst xmlns:a="http://schemas.openxmlformats.org/drawingml/2006/main">
              <a:ext uri="{FF2B5EF4-FFF2-40B4-BE49-F238E27FC236}">
                <a16:creationId xmlns:a16="http://schemas.microsoft.com/office/drawing/2014/main" id="{987BBB1C-3F76-4B21-A5B7-1F8D8123A0DA}"/>
              </a:ext>
            </a:extLst>
          </p:cNvPr>
          <p:cNvSpPr>
            <a:spLocks xmlns:a="http://schemas.openxmlformats.org/drawingml/2006/main" noGrp="1"/>
          </p:cNvSpPr>
          <p:nvPr/>
        </p:nvSpPr>
        <p:spPr>
          <a:xfrm xmlns:a="http://schemas.openxmlformats.org/drawingml/2006/main">
            <a:off x="6858000" y="422910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8462AA1-A4D8-467B-A92D-4CB3E7A3FFC8}"/>
              </a:ext>
            </a:extLst>
          </p:cNvPr>
          <p:cNvSpPr>
            <a:spLocks xmlns:a="http://schemas.openxmlformats.org/drawingml/2006/main" noGrp="1"/>
          </p:cNvSpPr>
          <p:nvPr/>
        </p:nvSpPr>
        <p:spPr>
          <a:xfrm xmlns:a="http://schemas.openxmlformats.org/drawingml/2006/main">
            <a:off x="7124700" y="4152900"/>
            <a:ext cx="3067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0">
                <a:solidFill>
                  <a:srgbClr val="173042"/>
                </a:solidFill>
                <a:latin typeface="Arial"/>
                <a:ea typeface="Arial"/>
                <a:cs typeface="Arial"/>
              </a:defRPr>
            </a:pPr>
            <a:r>
              <a:rPr sz="1575" b="0">
                <a:solidFill>
                  <a:srgbClr val="173042"/>
                </a:solidFill>
                <a:latin typeface="Arial"/>
                <a:ea typeface="Arial"/>
                <a:cs typeface="Arial"/>
              </a:rPr>
              <a:t>Hiệu quả kinh tế</a:t>
            </a:r>
          </a:p>
        </p:txBody>
      </p:sp>
    </p:spTree>
    <p:extLst>
      <p:ext uri="{BB962C8B-B14F-4D97-AF65-F5344CB8AC3E}">
        <p14:creationId xmlns:p14="http://schemas.microsoft.com/office/powerpoint/2010/main" val="3676441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E0049BD-77E1-424A-8B79-073519E3BA8C}"/>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DFA236-96E5-472F-B0DB-2A8775AB4C83}"/>
              </a:ext>
            </a:extLst>
          </p:cNvPr>
          <p:cNvSpPr>
            <a:spLocks xmlns:a="http://schemas.openxmlformats.org/drawingml/2006/main" noGrp="1"/>
          </p:cNvSpPr>
          <p:nvPr/>
        </p:nvSpPr>
        <p:spPr>
          <a:xfrm xmlns:a="http://schemas.openxmlformats.org/drawingml/2006/main">
            <a:off x="609600" y="285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0077A8"/>
                </a:solidFill>
                <a:latin typeface="Arial"/>
                <a:ea typeface="Arial"/>
                <a:cs typeface="Arial"/>
              </a:defRPr>
            </a:pPr>
            <a:r>
              <a:rPr sz="975" b="1">
                <a:solidFill>
                  <a:srgbClr val="0077A8"/>
                </a:solidFill>
                <a:latin typeface="Arial"/>
                <a:ea typeface="Arial"/>
                <a:cs typeface="Arial"/>
              </a:rPr>
              <a:t>LUẬT ĐẤU THẦU | 60 PHÚT</a:t>
            </a:r>
          </a:p>
        </p:txBody>
      </p:sp>
      <p:sp>
        <p:nvSpPr>
          <p:cNvPr id="3" name="">
            <a:extLst xmlns:a="http://schemas.openxmlformats.org/drawingml/2006/main">
              <a:ext uri="{FF2B5EF4-FFF2-40B4-BE49-F238E27FC236}">
                <a16:creationId xmlns:a16="http://schemas.microsoft.com/office/drawing/2014/main" id="{4BAC04BB-EF2B-4757-B3DA-AA42B0F74622}"/>
              </a:ext>
            </a:extLst>
          </p:cNvPr>
          <p:cNvSpPr>
            <a:spLocks xmlns:a="http://schemas.openxmlformats.org/drawingml/2006/main" noGrp="1"/>
          </p:cNvSpPr>
          <p:nvPr/>
        </p:nvSpPr>
        <p:spPr>
          <a:xfrm xmlns:a="http://schemas.openxmlformats.org/drawingml/2006/main">
            <a:off x="609600" y="590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063B5C"/>
                </a:solidFill>
                <a:latin typeface="Arial"/>
                <a:ea typeface="Arial"/>
                <a:cs typeface="Arial"/>
              </a:defRPr>
            </a:pPr>
            <a:r>
              <a:rPr sz="2550" b="1">
                <a:solidFill>
                  <a:srgbClr val="063B5C"/>
                </a:solidFill>
                <a:latin typeface="Arial"/>
                <a:ea typeface="Arial"/>
                <a:cs typeface="Arial"/>
              </a:rPr>
              <a:t>Một gói thầu đi qua những cửa nào?</a:t>
            </a:r>
          </a:p>
        </p:txBody>
      </p:sp>
      <p:sp>
        <p:nvSpPr>
          <p:cNvPr id="4" name="">
            <a:extLst xmlns:a="http://schemas.openxmlformats.org/drawingml/2006/main">
              <a:ext uri="{FF2B5EF4-FFF2-40B4-BE49-F238E27FC236}">
                <a16:creationId xmlns:a16="http://schemas.microsoft.com/office/drawing/2014/main" id="{3250B03F-6DFD-47FE-AB03-E7AA9C39259F}"/>
              </a:ext>
            </a:extLst>
          </p:cNvPr>
          <p:cNvSpPr>
            <a:spLocks xmlns:a="http://schemas.openxmlformats.org/drawingml/2006/main" noGrp="1"/>
          </p:cNvSpPr>
          <p:nvPr/>
        </p:nvSpPr>
        <p:spPr>
          <a:xfrm xmlns:a="http://schemas.openxmlformats.org/drawingml/2006/main">
            <a:off x="609600" y="65151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0">
                <a:solidFill>
                  <a:srgbClr val="5C6B73"/>
                </a:solidFill>
                <a:latin typeface="Arial"/>
                <a:ea typeface="Arial"/>
                <a:cs typeface="Arial"/>
              </a:defRPr>
            </a:pPr>
            <a:r>
              <a:rPr sz="750" b="0">
                <a:solidFill>
                  <a:srgbClr val="5C6B73"/>
                </a:solidFill>
                <a:latin typeface="Arial"/>
                <a:ea typeface="Arial"/>
                <a:cs typeface="Arial"/>
              </a:rPr>
              <a:t>Nguồn: Luật Đấu thầu hợp nhất 22/2023, sửa đổi 57/2024 và 90/2025; NĐ 214/2025; NĐ 349/2026; tài liệu nội bộ Viettel 2026</a:t>
            </a:r>
          </a:p>
        </p:txBody>
      </p:sp>
      <p:sp>
        <p:nvSpPr>
          <p:cNvPr id="5" name="">
            <a:extLst xmlns:a="http://schemas.openxmlformats.org/drawingml/2006/main">
              <a:ext uri="{FF2B5EF4-FFF2-40B4-BE49-F238E27FC236}">
                <a16:creationId xmlns:a16="http://schemas.microsoft.com/office/drawing/2014/main" id="{BF9AC6F2-CACE-4CFB-A412-B2C9BD926287}"/>
              </a:ext>
            </a:extLst>
          </p:cNvPr>
          <p:cNvSpPr>
            <a:spLocks xmlns:a="http://schemas.openxmlformats.org/drawingml/2006/main" noGrp="1"/>
          </p:cNvSpPr>
          <p:nvPr/>
        </p:nvSpPr>
        <p:spPr>
          <a:xfrm xmlns:a="http://schemas.openxmlformats.org/drawingml/2006/main">
            <a:off x="762000" y="2333625"/>
            <a:ext cx="1619250" cy="1143000"/>
          </a:xfrm>
          <a:prstGeom xmlns:a="http://schemas.openxmlformats.org/drawingml/2006/main" prst="roundRect">
            <a:avLst>
              <a:gd name="adj" fmla="val 6667"/>
            </a:avLst>
          </a:prstGeom>
          <a:solidFill xmlns:a="http://schemas.openxmlformats.org/drawingml/2006/main">
            <a:srgbClr val="EAF4F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9F846FA-D28D-466F-9759-5ABF2896BDDA}"/>
              </a:ext>
            </a:extLst>
          </p:cNvPr>
          <p:cNvSpPr>
            <a:spLocks xmlns:a="http://schemas.openxmlformats.org/drawingml/2006/main" noGrp="1"/>
          </p:cNvSpPr>
          <p:nvPr/>
        </p:nvSpPr>
        <p:spPr>
          <a:xfrm xmlns:a="http://schemas.openxmlformats.org/drawingml/2006/main">
            <a:off x="904875" y="2524125"/>
            <a:ext cx="133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063B5C"/>
                </a:solidFill>
                <a:latin typeface="Arial"/>
                <a:ea typeface="Arial"/>
                <a:cs typeface="Arial"/>
              </a:defRPr>
            </a:pPr>
            <a:r>
              <a:rPr sz="1500" b="1">
                <a:solidFill>
                  <a:srgbClr val="063B5C"/>
                </a:solidFill>
                <a:latin typeface="Arial"/>
                <a:ea typeface="Arial"/>
                <a:cs typeface="Arial"/>
              </a:rPr>
              <a:t>Xác định nhu cầu</a:t>
            </a:r>
          </a:p>
        </p:txBody>
      </p:sp>
      <p:sp>
        <p:nvSpPr>
          <p:cNvPr id="7" name="">
            <a:extLst xmlns:a="http://schemas.openxmlformats.org/drawingml/2006/main">
              <a:ext uri="{FF2B5EF4-FFF2-40B4-BE49-F238E27FC236}">
                <a16:creationId xmlns:a16="http://schemas.microsoft.com/office/drawing/2014/main" id="{F395B507-4944-45E1-BFE3-5CA7DB899A9D}"/>
              </a:ext>
            </a:extLst>
          </p:cNvPr>
          <p:cNvSpPr>
            <a:spLocks xmlns:a="http://schemas.openxmlformats.org/drawingml/2006/main" noGrp="1"/>
          </p:cNvSpPr>
          <p:nvPr/>
        </p:nvSpPr>
        <p:spPr>
          <a:xfrm xmlns:a="http://schemas.openxmlformats.org/drawingml/2006/main">
            <a:off x="2400300" y="2857500"/>
            <a:ext cx="495300" cy="7620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A2383FE-C4AA-489A-B555-A24E76B18D87}"/>
              </a:ext>
            </a:extLst>
          </p:cNvPr>
          <p:cNvSpPr>
            <a:spLocks xmlns:a="http://schemas.openxmlformats.org/drawingml/2006/main" noGrp="1"/>
          </p:cNvSpPr>
          <p:nvPr/>
        </p:nvSpPr>
        <p:spPr>
          <a:xfrm xmlns:a="http://schemas.openxmlformats.org/drawingml/2006/main">
            <a:off x="2952750" y="2333625"/>
            <a:ext cx="1619250" cy="1143000"/>
          </a:xfrm>
          <a:prstGeom xmlns:a="http://schemas.openxmlformats.org/drawingml/2006/main" prst="roundRect">
            <a:avLst>
              <a:gd name="adj" fmla="val 6667"/>
            </a:avLst>
          </a:prstGeom>
          <a:solidFill xmlns:a="http://schemas.openxmlformats.org/drawingml/2006/main">
            <a:srgbClr val="EAF4F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30CABC7-2805-4096-A9BE-B5FF72F8D8B9}"/>
              </a:ext>
            </a:extLst>
          </p:cNvPr>
          <p:cNvSpPr>
            <a:spLocks xmlns:a="http://schemas.openxmlformats.org/drawingml/2006/main" noGrp="1"/>
          </p:cNvSpPr>
          <p:nvPr/>
        </p:nvSpPr>
        <p:spPr>
          <a:xfrm xmlns:a="http://schemas.openxmlformats.org/drawingml/2006/main">
            <a:off x="3095625" y="2524125"/>
            <a:ext cx="133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063B5C"/>
                </a:solidFill>
                <a:latin typeface="Arial"/>
                <a:ea typeface="Arial"/>
                <a:cs typeface="Arial"/>
              </a:defRPr>
            </a:pPr>
            <a:r>
              <a:rPr sz="1500" b="1">
                <a:solidFill>
                  <a:srgbClr val="063B5C"/>
                </a:solidFill>
                <a:latin typeface="Arial"/>
                <a:ea typeface="Arial"/>
                <a:cs typeface="Arial"/>
              </a:rPr>
              <a:t>KHLCNT</a:t>
            </a:r>
          </a:p>
        </p:txBody>
      </p:sp>
      <p:sp>
        <p:nvSpPr>
          <p:cNvPr id="10" name="">
            <a:extLst xmlns:a="http://schemas.openxmlformats.org/drawingml/2006/main">
              <a:ext uri="{FF2B5EF4-FFF2-40B4-BE49-F238E27FC236}">
                <a16:creationId xmlns:a16="http://schemas.microsoft.com/office/drawing/2014/main" id="{CA19629E-B360-4A31-B8F5-ABE00416AB85}"/>
              </a:ext>
            </a:extLst>
          </p:cNvPr>
          <p:cNvSpPr>
            <a:spLocks xmlns:a="http://schemas.openxmlformats.org/drawingml/2006/main" noGrp="1"/>
          </p:cNvSpPr>
          <p:nvPr/>
        </p:nvSpPr>
        <p:spPr>
          <a:xfrm xmlns:a="http://schemas.openxmlformats.org/drawingml/2006/main">
            <a:off x="4591050" y="2857500"/>
            <a:ext cx="495300" cy="7620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756535-59E3-40B4-9B4C-E2E47BAA0416}"/>
              </a:ext>
            </a:extLst>
          </p:cNvPr>
          <p:cNvSpPr>
            <a:spLocks xmlns:a="http://schemas.openxmlformats.org/drawingml/2006/main" noGrp="1"/>
          </p:cNvSpPr>
          <p:nvPr/>
        </p:nvSpPr>
        <p:spPr>
          <a:xfrm xmlns:a="http://schemas.openxmlformats.org/drawingml/2006/main">
            <a:off x="5143500" y="2333625"/>
            <a:ext cx="1619250" cy="1143000"/>
          </a:xfrm>
          <a:prstGeom xmlns:a="http://schemas.openxmlformats.org/drawingml/2006/main" prst="roundRect">
            <a:avLst>
              <a:gd name="adj" fmla="val 6667"/>
            </a:avLst>
          </a:prstGeom>
          <a:solidFill xmlns:a="http://schemas.openxmlformats.org/drawingml/2006/main">
            <a:srgbClr val="0077A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C423DD6-7F0D-4103-91FD-049BFFDDA41B}"/>
              </a:ext>
            </a:extLst>
          </p:cNvPr>
          <p:cNvSpPr>
            <a:spLocks xmlns:a="http://schemas.openxmlformats.org/drawingml/2006/main" noGrp="1"/>
          </p:cNvSpPr>
          <p:nvPr/>
        </p:nvSpPr>
        <p:spPr>
          <a:xfrm xmlns:a="http://schemas.openxmlformats.org/drawingml/2006/main">
            <a:off x="5286375" y="2524125"/>
            <a:ext cx="133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HSMT / HSYC</a:t>
            </a:r>
          </a:p>
        </p:txBody>
      </p:sp>
      <p:sp>
        <p:nvSpPr>
          <p:cNvPr id="13" name="">
            <a:extLst xmlns:a="http://schemas.openxmlformats.org/drawingml/2006/main">
              <a:ext uri="{FF2B5EF4-FFF2-40B4-BE49-F238E27FC236}">
                <a16:creationId xmlns:a16="http://schemas.microsoft.com/office/drawing/2014/main" id="{9440C49A-CF12-4C7F-B1A6-678FE7E19725}"/>
              </a:ext>
            </a:extLst>
          </p:cNvPr>
          <p:cNvSpPr>
            <a:spLocks xmlns:a="http://schemas.openxmlformats.org/drawingml/2006/main" noGrp="1"/>
          </p:cNvSpPr>
          <p:nvPr/>
        </p:nvSpPr>
        <p:spPr>
          <a:xfrm xmlns:a="http://schemas.openxmlformats.org/drawingml/2006/main">
            <a:off x="6781800" y="2857500"/>
            <a:ext cx="495300" cy="7620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078574A-3F09-43D8-87D3-93EC1E757230}"/>
              </a:ext>
            </a:extLst>
          </p:cNvPr>
          <p:cNvSpPr>
            <a:spLocks xmlns:a="http://schemas.openxmlformats.org/drawingml/2006/main" noGrp="1"/>
          </p:cNvSpPr>
          <p:nvPr/>
        </p:nvSpPr>
        <p:spPr>
          <a:xfrm xmlns:a="http://schemas.openxmlformats.org/drawingml/2006/main">
            <a:off x="7334250" y="2333625"/>
            <a:ext cx="1619250" cy="1143000"/>
          </a:xfrm>
          <a:prstGeom xmlns:a="http://schemas.openxmlformats.org/drawingml/2006/main" prst="roundRect">
            <a:avLst>
              <a:gd name="adj" fmla="val 6667"/>
            </a:avLst>
          </a:prstGeom>
          <a:solidFill xmlns:a="http://schemas.openxmlformats.org/drawingml/2006/main">
            <a:srgbClr val="EAF4F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1696F4F-DB3E-494C-BFCB-32F381212CF0}"/>
              </a:ext>
            </a:extLst>
          </p:cNvPr>
          <p:cNvSpPr>
            <a:spLocks xmlns:a="http://schemas.openxmlformats.org/drawingml/2006/main" noGrp="1"/>
          </p:cNvSpPr>
          <p:nvPr/>
        </p:nvSpPr>
        <p:spPr>
          <a:xfrm xmlns:a="http://schemas.openxmlformats.org/drawingml/2006/main">
            <a:off x="7477125" y="2524125"/>
            <a:ext cx="133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063B5C"/>
                </a:solidFill>
                <a:latin typeface="Arial"/>
                <a:ea typeface="Arial"/>
                <a:cs typeface="Arial"/>
              </a:defRPr>
            </a:pPr>
            <a:r>
              <a:rPr sz="1500" b="1">
                <a:solidFill>
                  <a:srgbClr val="063B5C"/>
                </a:solidFill>
                <a:latin typeface="Arial"/>
                <a:ea typeface="Arial"/>
                <a:cs typeface="Arial"/>
              </a:rPr>
              <a:t>Đánh giá</a:t>
            </a:r>
          </a:p>
        </p:txBody>
      </p:sp>
      <p:sp>
        <p:nvSpPr>
          <p:cNvPr id="16" name="">
            <a:extLst xmlns:a="http://schemas.openxmlformats.org/drawingml/2006/main">
              <a:ext uri="{FF2B5EF4-FFF2-40B4-BE49-F238E27FC236}">
                <a16:creationId xmlns:a16="http://schemas.microsoft.com/office/drawing/2014/main" id="{1A779708-994B-481C-AB6C-3C439D1820E9}"/>
              </a:ext>
            </a:extLst>
          </p:cNvPr>
          <p:cNvSpPr>
            <a:spLocks xmlns:a="http://schemas.openxmlformats.org/drawingml/2006/main" noGrp="1"/>
          </p:cNvSpPr>
          <p:nvPr/>
        </p:nvSpPr>
        <p:spPr>
          <a:xfrm xmlns:a="http://schemas.openxmlformats.org/drawingml/2006/main">
            <a:off x="8972550" y="2857500"/>
            <a:ext cx="495300" cy="7620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08F1E33-13AE-4820-9575-03E4F6B1F6DE}"/>
              </a:ext>
            </a:extLst>
          </p:cNvPr>
          <p:cNvSpPr>
            <a:spLocks xmlns:a="http://schemas.openxmlformats.org/drawingml/2006/main" noGrp="1"/>
          </p:cNvSpPr>
          <p:nvPr/>
        </p:nvSpPr>
        <p:spPr>
          <a:xfrm xmlns:a="http://schemas.openxmlformats.org/drawingml/2006/main">
            <a:off x="9525000" y="2333625"/>
            <a:ext cx="1619250" cy="1143000"/>
          </a:xfrm>
          <a:prstGeom xmlns:a="http://schemas.openxmlformats.org/drawingml/2006/main" prst="roundRect">
            <a:avLst>
              <a:gd name="adj" fmla="val 6667"/>
            </a:avLst>
          </a:prstGeom>
          <a:solidFill xmlns:a="http://schemas.openxmlformats.org/drawingml/2006/main">
            <a:srgbClr val="EAF4F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46D431D-FA8E-4E32-BB76-C324583A1188}"/>
              </a:ext>
            </a:extLst>
          </p:cNvPr>
          <p:cNvSpPr>
            <a:spLocks xmlns:a="http://schemas.openxmlformats.org/drawingml/2006/main" noGrp="1"/>
          </p:cNvSpPr>
          <p:nvPr/>
        </p:nvSpPr>
        <p:spPr>
          <a:xfrm xmlns:a="http://schemas.openxmlformats.org/drawingml/2006/main">
            <a:off x="9667875" y="2524125"/>
            <a:ext cx="133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063B5C"/>
                </a:solidFill>
                <a:latin typeface="Arial"/>
                <a:ea typeface="Arial"/>
                <a:cs typeface="Arial"/>
              </a:defRPr>
            </a:pPr>
            <a:r>
              <a:rPr sz="1500" b="1">
                <a:solidFill>
                  <a:srgbClr val="063B5C"/>
                </a:solidFill>
                <a:latin typeface="Arial"/>
                <a:ea typeface="Arial"/>
                <a:cs typeface="Arial"/>
              </a:rPr>
              <a:t>Hợp đồng</a:t>
            </a:r>
          </a:p>
        </p:txBody>
      </p:sp>
      <p:sp>
        <p:nvSpPr>
          <p:cNvPr id="19" name="">
            <a:extLst xmlns:a="http://schemas.openxmlformats.org/drawingml/2006/main">
              <a:ext uri="{FF2B5EF4-FFF2-40B4-BE49-F238E27FC236}">
                <a16:creationId xmlns:a16="http://schemas.microsoft.com/office/drawing/2014/main" id="{A21282FC-0B6A-46C6-8237-CD3D63008CD7}"/>
              </a:ext>
            </a:extLst>
          </p:cNvPr>
          <p:cNvSpPr>
            <a:spLocks xmlns:a="http://schemas.openxmlformats.org/drawingml/2006/main" noGrp="1"/>
          </p:cNvSpPr>
          <p:nvPr/>
        </p:nvSpPr>
        <p:spPr>
          <a:xfrm xmlns:a="http://schemas.openxmlformats.org/drawingml/2006/main">
            <a:off x="857250" y="4429125"/>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1">
                <a:solidFill>
                  <a:srgbClr val="173042"/>
                </a:solidFill>
                <a:latin typeface="Arial"/>
                <a:ea typeface="Arial"/>
                <a:cs typeface="Arial"/>
              </a:defRPr>
            </a:pPr>
            <a:r>
              <a:rPr sz="1800" b="1">
                <a:solidFill>
                  <a:srgbClr val="173042"/>
                </a:solidFill>
                <a:latin typeface="Arial"/>
                <a:ea typeface="Arial"/>
                <a:cs typeface="Arial"/>
              </a:rPr>
              <a:t>Điểm kiểm soát xuyên suốt: đúng thẩm quyền, đúng tiêu chí, đúng thời hạn, có dấu vết giải trình.</a:t>
            </a:r>
          </a:p>
        </p:txBody>
      </p:sp>
    </p:spTree>
    <p:extLst>
      <p:ext uri="{BB962C8B-B14F-4D97-AF65-F5344CB8AC3E}">
        <p14:creationId xmlns:p14="http://schemas.microsoft.com/office/powerpoint/2010/main" val="5000024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0B564C3-6A87-4E91-8925-3D4259B554B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258DBE-B6CF-4BC1-BC2F-8D1F248DC844}"/>
              </a:ext>
            </a:extLst>
          </p:cNvPr>
          <p:cNvSpPr>
            <a:spLocks xmlns:a="http://schemas.openxmlformats.org/drawingml/2006/main" noGrp="1"/>
          </p:cNvSpPr>
          <p:nvPr/>
        </p:nvSpPr>
        <p:spPr>
          <a:xfrm xmlns:a="http://schemas.openxmlformats.org/drawingml/2006/main">
            <a:off x="609600" y="285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0077A8"/>
                </a:solidFill>
                <a:latin typeface="Arial"/>
                <a:ea typeface="Arial"/>
                <a:cs typeface="Arial"/>
              </a:defRPr>
            </a:pPr>
            <a:r>
              <a:rPr sz="975" b="1">
                <a:solidFill>
                  <a:srgbClr val="0077A8"/>
                </a:solidFill>
                <a:latin typeface="Arial"/>
                <a:ea typeface="Arial"/>
                <a:cs typeface="Arial"/>
              </a:rPr>
              <a:t>LUẬT ĐẤU THẦU | 60 PHÚT</a:t>
            </a:r>
          </a:p>
        </p:txBody>
      </p:sp>
      <p:sp>
        <p:nvSpPr>
          <p:cNvPr id="3" name="">
            <a:extLst xmlns:a="http://schemas.openxmlformats.org/drawingml/2006/main">
              <a:ext uri="{FF2B5EF4-FFF2-40B4-BE49-F238E27FC236}">
                <a16:creationId xmlns:a16="http://schemas.microsoft.com/office/drawing/2014/main" id="{D5F6E02D-9EAD-4100-A8C5-8AF8525ADF66}"/>
              </a:ext>
            </a:extLst>
          </p:cNvPr>
          <p:cNvSpPr>
            <a:spLocks xmlns:a="http://schemas.openxmlformats.org/drawingml/2006/main" noGrp="1"/>
          </p:cNvSpPr>
          <p:nvPr/>
        </p:nvSpPr>
        <p:spPr>
          <a:xfrm xmlns:a="http://schemas.openxmlformats.org/drawingml/2006/main">
            <a:off x="609600" y="590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063B5C"/>
                </a:solidFill>
                <a:latin typeface="Arial"/>
                <a:ea typeface="Arial"/>
                <a:cs typeface="Arial"/>
              </a:defRPr>
            </a:pPr>
            <a:r>
              <a:rPr sz="2550" b="1">
                <a:solidFill>
                  <a:srgbClr val="063B5C"/>
                </a:solidFill>
                <a:latin typeface="Arial"/>
                <a:ea typeface="Arial"/>
                <a:cs typeface="Arial"/>
              </a:rPr>
              <a:t>Hình thức lựa chọn nhà thầu</a:t>
            </a:r>
          </a:p>
        </p:txBody>
      </p:sp>
      <p:sp>
        <p:nvSpPr>
          <p:cNvPr id="4" name="">
            <a:extLst xmlns:a="http://schemas.openxmlformats.org/drawingml/2006/main">
              <a:ext uri="{FF2B5EF4-FFF2-40B4-BE49-F238E27FC236}">
                <a16:creationId xmlns:a16="http://schemas.microsoft.com/office/drawing/2014/main" id="{454B36D2-0EC2-4EC6-9D93-079C63781DAA}"/>
              </a:ext>
            </a:extLst>
          </p:cNvPr>
          <p:cNvSpPr>
            <a:spLocks xmlns:a="http://schemas.openxmlformats.org/drawingml/2006/main" noGrp="1"/>
          </p:cNvSpPr>
          <p:nvPr/>
        </p:nvSpPr>
        <p:spPr>
          <a:xfrm xmlns:a="http://schemas.openxmlformats.org/drawingml/2006/main">
            <a:off x="609600" y="65151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0">
                <a:solidFill>
                  <a:srgbClr val="5C6B73"/>
                </a:solidFill>
                <a:latin typeface="Arial"/>
                <a:ea typeface="Arial"/>
                <a:cs typeface="Arial"/>
              </a:defRPr>
            </a:pPr>
            <a:r>
              <a:rPr sz="750" b="0">
                <a:solidFill>
                  <a:srgbClr val="5C6B73"/>
                </a:solidFill>
                <a:latin typeface="Arial"/>
                <a:ea typeface="Arial"/>
                <a:cs typeface="Arial"/>
              </a:rPr>
              <a:t>Nguồn: Luật Đấu thầu hợp nhất 22/2023, sửa đổi 57/2024 và 90/2025; NĐ 214/2025; NĐ 349/2026; tài liệu nội bộ Viettel 2026</a:t>
            </a:r>
          </a:p>
        </p:txBody>
      </p:sp>
      <p:sp>
        <p:nvSpPr>
          <p:cNvPr id="5" name="">
            <a:extLst xmlns:a="http://schemas.openxmlformats.org/drawingml/2006/main">
              <a:ext uri="{FF2B5EF4-FFF2-40B4-BE49-F238E27FC236}">
                <a16:creationId xmlns:a16="http://schemas.microsoft.com/office/drawing/2014/main" id="{BEB86FFD-DB6D-463D-A95C-499CC7F59861}"/>
              </a:ext>
            </a:extLst>
          </p:cNvPr>
          <p:cNvSpPr>
            <a:spLocks xmlns:a="http://schemas.openxmlformats.org/drawingml/2006/main" noGrp="1"/>
          </p:cNvSpPr>
          <p:nvPr/>
        </p:nvSpPr>
        <p:spPr>
          <a:xfrm xmlns:a="http://schemas.openxmlformats.org/drawingml/2006/main">
            <a:off x="762000" y="1428750"/>
            <a:ext cx="2952750" cy="571500"/>
          </a:xfrm>
          <a:prstGeom xmlns:a="http://schemas.openxmlformats.org/drawingml/2006/main" prst="roundRect">
            <a:avLst>
              <a:gd name="adj" fmla="val 13333"/>
            </a:avLst>
          </a:prstGeom>
          <a:solidFill xmlns:a="http://schemas.openxmlformats.org/drawingml/2006/main">
            <a:srgbClr val="0077A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0C7DEBC-C0CF-46E1-AB83-FDC1E90DC19E}"/>
              </a:ext>
            </a:extLst>
          </p:cNvPr>
          <p:cNvSpPr>
            <a:spLocks xmlns:a="http://schemas.openxmlformats.org/drawingml/2006/main" noGrp="1"/>
          </p:cNvSpPr>
          <p:nvPr/>
        </p:nvSpPr>
        <p:spPr>
          <a:xfrm xmlns:a="http://schemas.openxmlformats.org/drawingml/2006/main">
            <a:off x="952500" y="152400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Đấu thầu rộng rãi</a:t>
            </a:r>
          </a:p>
        </p:txBody>
      </p:sp>
      <p:sp>
        <p:nvSpPr>
          <p:cNvPr id="7" name="">
            <a:extLst xmlns:a="http://schemas.openxmlformats.org/drawingml/2006/main">
              <a:ext uri="{FF2B5EF4-FFF2-40B4-BE49-F238E27FC236}">
                <a16:creationId xmlns:a16="http://schemas.microsoft.com/office/drawing/2014/main" id="{9319F95E-DE65-4F70-8E38-EBA4A9644E36}"/>
              </a:ext>
            </a:extLst>
          </p:cNvPr>
          <p:cNvSpPr>
            <a:spLocks xmlns:a="http://schemas.openxmlformats.org/drawingml/2006/main" noGrp="1"/>
          </p:cNvSpPr>
          <p:nvPr/>
        </p:nvSpPr>
        <p:spPr>
          <a:xfrm xmlns:a="http://schemas.openxmlformats.org/drawingml/2006/main">
            <a:off x="4095750" y="1504950"/>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b="0">
                <a:solidFill>
                  <a:srgbClr val="173042"/>
                </a:solidFill>
                <a:latin typeface="Arial"/>
                <a:ea typeface="Arial"/>
                <a:cs typeface="Arial"/>
              </a:defRPr>
            </a:pPr>
            <a:r>
              <a:rPr sz="1425" b="0">
                <a:solidFill>
                  <a:srgbClr val="173042"/>
                </a:solidFill>
                <a:latin typeface="Arial"/>
                <a:ea typeface="Arial"/>
                <a:cs typeface="Arial"/>
              </a:rPr>
              <a:t>Mặc định khi có cạnh tranh</a:t>
            </a:r>
          </a:p>
        </p:txBody>
      </p:sp>
      <p:sp>
        <p:nvSpPr>
          <p:cNvPr id="8" name="">
            <a:extLst xmlns:a="http://schemas.openxmlformats.org/drawingml/2006/main">
              <a:ext uri="{FF2B5EF4-FFF2-40B4-BE49-F238E27FC236}">
                <a16:creationId xmlns:a16="http://schemas.microsoft.com/office/drawing/2014/main" id="{22D7BC68-4B9F-4C4C-8542-BD413294C222}"/>
              </a:ext>
            </a:extLst>
          </p:cNvPr>
          <p:cNvSpPr>
            <a:spLocks xmlns:a="http://schemas.openxmlformats.org/drawingml/2006/main" noGrp="1"/>
          </p:cNvSpPr>
          <p:nvPr/>
        </p:nvSpPr>
        <p:spPr>
          <a:xfrm xmlns:a="http://schemas.openxmlformats.org/drawingml/2006/main">
            <a:off x="762000" y="2238375"/>
            <a:ext cx="2952750" cy="571500"/>
          </a:xfrm>
          <a:prstGeom xmlns:a="http://schemas.openxmlformats.org/drawingml/2006/main" prst="roundRect">
            <a:avLst>
              <a:gd name="adj" fmla="val 13333"/>
            </a:avLst>
          </a:prstGeom>
          <a:solidFill xmlns:a="http://schemas.openxmlformats.org/drawingml/2006/main">
            <a:srgbClr val="EAF4F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55553B5-01CF-409A-9D7F-6E6A74642297}"/>
              </a:ext>
            </a:extLst>
          </p:cNvPr>
          <p:cNvSpPr>
            <a:spLocks xmlns:a="http://schemas.openxmlformats.org/drawingml/2006/main" noGrp="1"/>
          </p:cNvSpPr>
          <p:nvPr/>
        </p:nvSpPr>
        <p:spPr>
          <a:xfrm xmlns:a="http://schemas.openxmlformats.org/drawingml/2006/main">
            <a:off x="952500" y="2333625"/>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1">
                <a:solidFill>
                  <a:srgbClr val="063B5C"/>
                </a:solidFill>
                <a:latin typeface="Arial"/>
                <a:ea typeface="Arial"/>
                <a:cs typeface="Arial"/>
              </a:defRPr>
            </a:pPr>
            <a:r>
              <a:rPr sz="1350" b="1">
                <a:solidFill>
                  <a:srgbClr val="063B5C"/>
                </a:solidFill>
                <a:latin typeface="Arial"/>
                <a:ea typeface="Arial"/>
                <a:cs typeface="Arial"/>
              </a:rPr>
              <a:t>Đấu thầu hạn chế</a:t>
            </a:r>
          </a:p>
        </p:txBody>
      </p:sp>
      <p:sp>
        <p:nvSpPr>
          <p:cNvPr id="10" name="">
            <a:extLst xmlns:a="http://schemas.openxmlformats.org/drawingml/2006/main">
              <a:ext uri="{FF2B5EF4-FFF2-40B4-BE49-F238E27FC236}">
                <a16:creationId xmlns:a16="http://schemas.microsoft.com/office/drawing/2014/main" id="{E16404F5-AAC9-42B8-93B7-9ADD2D32BDC7}"/>
              </a:ext>
            </a:extLst>
          </p:cNvPr>
          <p:cNvSpPr>
            <a:spLocks xmlns:a="http://schemas.openxmlformats.org/drawingml/2006/main" noGrp="1"/>
          </p:cNvSpPr>
          <p:nvPr/>
        </p:nvSpPr>
        <p:spPr>
          <a:xfrm xmlns:a="http://schemas.openxmlformats.org/drawingml/2006/main">
            <a:off x="4095750" y="2314575"/>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b="0">
                <a:solidFill>
                  <a:srgbClr val="173042"/>
                </a:solidFill>
                <a:latin typeface="Arial"/>
                <a:ea typeface="Arial"/>
                <a:cs typeface="Arial"/>
              </a:defRPr>
            </a:pPr>
            <a:r>
              <a:rPr sz="1425" b="0">
                <a:solidFill>
                  <a:srgbClr val="173042"/>
                </a:solidFill>
                <a:latin typeface="Arial"/>
                <a:ea typeface="Arial"/>
                <a:cs typeface="Arial"/>
              </a:rPr>
              <a:t>Chỉ mời nhà thầu đáp ứng điều kiện đặc thù</a:t>
            </a:r>
          </a:p>
        </p:txBody>
      </p:sp>
      <p:sp>
        <p:nvSpPr>
          <p:cNvPr id="11" name="">
            <a:extLst xmlns:a="http://schemas.openxmlformats.org/drawingml/2006/main">
              <a:ext uri="{FF2B5EF4-FFF2-40B4-BE49-F238E27FC236}">
                <a16:creationId xmlns:a16="http://schemas.microsoft.com/office/drawing/2014/main" id="{A589EF43-E9B9-4896-B7A3-C1CAC6C380A5}"/>
              </a:ext>
            </a:extLst>
          </p:cNvPr>
          <p:cNvSpPr>
            <a:spLocks xmlns:a="http://schemas.openxmlformats.org/drawingml/2006/main" noGrp="1"/>
          </p:cNvSpPr>
          <p:nvPr/>
        </p:nvSpPr>
        <p:spPr>
          <a:xfrm xmlns:a="http://schemas.openxmlformats.org/drawingml/2006/main">
            <a:off x="762000" y="3048000"/>
            <a:ext cx="2952750" cy="571500"/>
          </a:xfrm>
          <a:prstGeom xmlns:a="http://schemas.openxmlformats.org/drawingml/2006/main" prst="roundRect">
            <a:avLst>
              <a:gd name="adj" fmla="val 13333"/>
            </a:avLst>
          </a:prstGeom>
          <a:solidFill xmlns:a="http://schemas.openxmlformats.org/drawingml/2006/main">
            <a:srgbClr val="EAF4F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3A49A43-4066-48F2-A32B-AA69681A4014}"/>
              </a:ext>
            </a:extLst>
          </p:cNvPr>
          <p:cNvSpPr>
            <a:spLocks xmlns:a="http://schemas.openxmlformats.org/drawingml/2006/main" noGrp="1"/>
          </p:cNvSpPr>
          <p:nvPr/>
        </p:nvSpPr>
        <p:spPr>
          <a:xfrm xmlns:a="http://schemas.openxmlformats.org/drawingml/2006/main">
            <a:off x="952500" y="31432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1">
                <a:solidFill>
                  <a:srgbClr val="063B5C"/>
                </a:solidFill>
                <a:latin typeface="Arial"/>
                <a:ea typeface="Arial"/>
                <a:cs typeface="Arial"/>
              </a:defRPr>
            </a:pPr>
            <a:r>
              <a:rPr sz="1350" b="1">
                <a:solidFill>
                  <a:srgbClr val="063B5C"/>
                </a:solidFill>
                <a:latin typeface="Arial"/>
                <a:ea typeface="Arial"/>
                <a:cs typeface="Arial"/>
              </a:rPr>
              <a:t>Chỉ định thầu</a:t>
            </a:r>
          </a:p>
        </p:txBody>
      </p:sp>
      <p:sp>
        <p:nvSpPr>
          <p:cNvPr id="13" name="">
            <a:extLst xmlns:a="http://schemas.openxmlformats.org/drawingml/2006/main">
              <a:ext uri="{FF2B5EF4-FFF2-40B4-BE49-F238E27FC236}">
                <a16:creationId xmlns:a16="http://schemas.microsoft.com/office/drawing/2014/main" id="{D7BE0A6A-D9CE-467E-8B98-94D8CFCF7214}"/>
              </a:ext>
            </a:extLst>
          </p:cNvPr>
          <p:cNvSpPr>
            <a:spLocks xmlns:a="http://schemas.openxmlformats.org/drawingml/2006/main" noGrp="1"/>
          </p:cNvSpPr>
          <p:nvPr/>
        </p:nvSpPr>
        <p:spPr>
          <a:xfrm xmlns:a="http://schemas.openxmlformats.org/drawingml/2006/main">
            <a:off x="4095750" y="3124200"/>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b="0">
                <a:solidFill>
                  <a:srgbClr val="173042"/>
                </a:solidFill>
                <a:latin typeface="Arial"/>
                <a:ea typeface="Arial"/>
                <a:cs typeface="Arial"/>
              </a:defRPr>
            </a:pPr>
            <a:r>
              <a:rPr sz="1425" b="0">
                <a:solidFill>
                  <a:srgbClr val="173042"/>
                </a:solidFill>
                <a:latin typeface="Arial"/>
                <a:ea typeface="Arial"/>
                <a:cs typeface="Arial"/>
              </a:rPr>
              <a:t>Trường hợp luật cho phép, phải có căn cứ</a:t>
            </a:r>
          </a:p>
        </p:txBody>
      </p:sp>
      <p:sp>
        <p:nvSpPr>
          <p:cNvPr id="14" name="">
            <a:extLst xmlns:a="http://schemas.openxmlformats.org/drawingml/2006/main">
              <a:ext uri="{FF2B5EF4-FFF2-40B4-BE49-F238E27FC236}">
                <a16:creationId xmlns:a16="http://schemas.microsoft.com/office/drawing/2014/main" id="{5678B8A5-1581-4B7F-A678-376B9CBDD5DD}"/>
              </a:ext>
            </a:extLst>
          </p:cNvPr>
          <p:cNvSpPr>
            <a:spLocks xmlns:a="http://schemas.openxmlformats.org/drawingml/2006/main" noGrp="1"/>
          </p:cNvSpPr>
          <p:nvPr/>
        </p:nvSpPr>
        <p:spPr>
          <a:xfrm xmlns:a="http://schemas.openxmlformats.org/drawingml/2006/main">
            <a:off x="762000" y="3857625"/>
            <a:ext cx="2952750" cy="571500"/>
          </a:xfrm>
          <a:prstGeom xmlns:a="http://schemas.openxmlformats.org/drawingml/2006/main" prst="roundRect">
            <a:avLst>
              <a:gd name="adj" fmla="val 13333"/>
            </a:avLst>
          </a:prstGeom>
          <a:solidFill xmlns:a="http://schemas.openxmlformats.org/drawingml/2006/main">
            <a:srgbClr val="EAF4F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97D492A-998E-4594-859D-E7351474B812}"/>
              </a:ext>
            </a:extLst>
          </p:cNvPr>
          <p:cNvSpPr>
            <a:spLocks xmlns:a="http://schemas.openxmlformats.org/drawingml/2006/main" noGrp="1"/>
          </p:cNvSpPr>
          <p:nvPr/>
        </p:nvSpPr>
        <p:spPr>
          <a:xfrm xmlns:a="http://schemas.openxmlformats.org/drawingml/2006/main">
            <a:off x="952500" y="3952875"/>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1">
                <a:solidFill>
                  <a:srgbClr val="063B5C"/>
                </a:solidFill>
                <a:latin typeface="Arial"/>
                <a:ea typeface="Arial"/>
                <a:cs typeface="Arial"/>
              </a:defRPr>
            </a:pPr>
            <a:r>
              <a:rPr sz="1350" b="1">
                <a:solidFill>
                  <a:srgbClr val="063B5C"/>
                </a:solidFill>
                <a:latin typeface="Arial"/>
                <a:ea typeface="Arial"/>
                <a:cs typeface="Arial"/>
              </a:rPr>
              <a:t>Chào hàng cạnh tranh</a:t>
            </a:r>
          </a:p>
        </p:txBody>
      </p:sp>
      <p:sp>
        <p:nvSpPr>
          <p:cNvPr id="16" name="">
            <a:extLst xmlns:a="http://schemas.openxmlformats.org/drawingml/2006/main">
              <a:ext uri="{FF2B5EF4-FFF2-40B4-BE49-F238E27FC236}">
                <a16:creationId xmlns:a16="http://schemas.microsoft.com/office/drawing/2014/main" id="{6EB77461-C262-49EB-A77D-7E2500D65CF3}"/>
              </a:ext>
            </a:extLst>
          </p:cNvPr>
          <p:cNvSpPr>
            <a:spLocks xmlns:a="http://schemas.openxmlformats.org/drawingml/2006/main" noGrp="1"/>
          </p:cNvSpPr>
          <p:nvPr/>
        </p:nvSpPr>
        <p:spPr>
          <a:xfrm xmlns:a="http://schemas.openxmlformats.org/drawingml/2006/main">
            <a:off x="4095750" y="3933825"/>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b="0">
                <a:solidFill>
                  <a:srgbClr val="173042"/>
                </a:solidFill>
                <a:latin typeface="Arial"/>
                <a:ea typeface="Arial"/>
                <a:cs typeface="Arial"/>
              </a:defRPr>
            </a:pPr>
            <a:r>
              <a:rPr sz="1425" b="0">
                <a:solidFill>
                  <a:srgbClr val="173042"/>
                </a:solidFill>
                <a:latin typeface="Arial"/>
                <a:ea typeface="Arial"/>
                <a:cs typeface="Arial"/>
              </a:rPr>
              <a:t>Gói thầu hàng hóa, dịch vụ tiêu chuẩn, đơn giản</a:t>
            </a:r>
          </a:p>
        </p:txBody>
      </p:sp>
      <p:sp>
        <p:nvSpPr>
          <p:cNvPr id="17" name="">
            <a:extLst xmlns:a="http://schemas.openxmlformats.org/drawingml/2006/main">
              <a:ext uri="{FF2B5EF4-FFF2-40B4-BE49-F238E27FC236}">
                <a16:creationId xmlns:a16="http://schemas.microsoft.com/office/drawing/2014/main" id="{1ECF1476-D075-4C28-989F-A1E46E469C66}"/>
              </a:ext>
            </a:extLst>
          </p:cNvPr>
          <p:cNvSpPr>
            <a:spLocks xmlns:a="http://schemas.openxmlformats.org/drawingml/2006/main" noGrp="1"/>
          </p:cNvSpPr>
          <p:nvPr/>
        </p:nvSpPr>
        <p:spPr>
          <a:xfrm xmlns:a="http://schemas.openxmlformats.org/drawingml/2006/main">
            <a:off x="762000" y="4667250"/>
            <a:ext cx="2952750" cy="571500"/>
          </a:xfrm>
          <a:prstGeom xmlns:a="http://schemas.openxmlformats.org/drawingml/2006/main" prst="roundRect">
            <a:avLst>
              <a:gd name="adj" fmla="val 13333"/>
            </a:avLst>
          </a:prstGeom>
          <a:solidFill xmlns:a="http://schemas.openxmlformats.org/drawingml/2006/main">
            <a:srgbClr val="EAF4F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3E5F11E-6AD4-405B-9CA3-4A3E67FDC13E}"/>
              </a:ext>
            </a:extLst>
          </p:cNvPr>
          <p:cNvSpPr>
            <a:spLocks xmlns:a="http://schemas.openxmlformats.org/drawingml/2006/main" noGrp="1"/>
          </p:cNvSpPr>
          <p:nvPr/>
        </p:nvSpPr>
        <p:spPr>
          <a:xfrm xmlns:a="http://schemas.openxmlformats.org/drawingml/2006/main">
            <a:off x="952500" y="476250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1">
                <a:solidFill>
                  <a:srgbClr val="063B5C"/>
                </a:solidFill>
                <a:latin typeface="Arial"/>
                <a:ea typeface="Arial"/>
                <a:cs typeface="Arial"/>
              </a:defRPr>
            </a:pPr>
            <a:r>
              <a:rPr sz="1350" b="1">
                <a:solidFill>
                  <a:srgbClr val="063B5C"/>
                </a:solidFill>
                <a:latin typeface="Arial"/>
                <a:ea typeface="Arial"/>
                <a:cs typeface="Arial"/>
              </a:rPr>
              <a:t>Mua sắm trực tiếp / tự thực hiện / đàm phán giá</a:t>
            </a:r>
          </a:p>
        </p:txBody>
      </p:sp>
      <p:sp>
        <p:nvSpPr>
          <p:cNvPr id="19" name="">
            <a:extLst xmlns:a="http://schemas.openxmlformats.org/drawingml/2006/main">
              <a:ext uri="{FF2B5EF4-FFF2-40B4-BE49-F238E27FC236}">
                <a16:creationId xmlns:a16="http://schemas.microsoft.com/office/drawing/2014/main" id="{5178ED0B-0DD7-4DD4-9E8D-B268F15E5BCB}"/>
              </a:ext>
            </a:extLst>
          </p:cNvPr>
          <p:cNvSpPr>
            <a:spLocks xmlns:a="http://schemas.openxmlformats.org/drawingml/2006/main" noGrp="1"/>
          </p:cNvSpPr>
          <p:nvPr/>
        </p:nvSpPr>
        <p:spPr>
          <a:xfrm xmlns:a="http://schemas.openxmlformats.org/drawingml/2006/main">
            <a:off x="4095750" y="4743450"/>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b="0">
                <a:solidFill>
                  <a:srgbClr val="173042"/>
                </a:solidFill>
                <a:latin typeface="Arial"/>
                <a:ea typeface="Arial"/>
                <a:cs typeface="Arial"/>
              </a:defRPr>
            </a:pPr>
            <a:r>
              <a:rPr sz="1425" b="0">
                <a:solidFill>
                  <a:srgbClr val="173042"/>
                </a:solidFill>
                <a:latin typeface="Arial"/>
                <a:ea typeface="Arial"/>
                <a:cs typeface="Arial"/>
              </a:rPr>
              <a:t>Chỉ dùng đúng điều kiện áp dụng</a:t>
            </a:r>
          </a:p>
        </p:txBody>
      </p:sp>
    </p:spTree>
    <p:extLst>
      <p:ext uri="{BB962C8B-B14F-4D97-AF65-F5344CB8AC3E}">
        <p14:creationId xmlns:p14="http://schemas.microsoft.com/office/powerpoint/2010/main" val="18940651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5588676-AB32-4953-8CBC-2675AE4FAA2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15C67B-3046-4A86-B976-D64CF471DA2A}"/>
              </a:ext>
            </a:extLst>
          </p:cNvPr>
          <p:cNvSpPr>
            <a:spLocks xmlns:a="http://schemas.openxmlformats.org/drawingml/2006/main" noGrp="1"/>
          </p:cNvSpPr>
          <p:nvPr/>
        </p:nvSpPr>
        <p:spPr>
          <a:xfrm xmlns:a="http://schemas.openxmlformats.org/drawingml/2006/main">
            <a:off x="609600" y="285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0077A8"/>
                </a:solidFill>
                <a:latin typeface="Arial"/>
                <a:ea typeface="Arial"/>
                <a:cs typeface="Arial"/>
              </a:defRPr>
            </a:pPr>
            <a:r>
              <a:rPr sz="975" b="1">
                <a:solidFill>
                  <a:srgbClr val="0077A8"/>
                </a:solidFill>
                <a:latin typeface="Arial"/>
                <a:ea typeface="Arial"/>
                <a:cs typeface="Arial"/>
              </a:rPr>
              <a:t>LUẬT ĐẤU THẦU | 60 PHÚT</a:t>
            </a:r>
          </a:p>
        </p:txBody>
      </p:sp>
      <p:sp>
        <p:nvSpPr>
          <p:cNvPr id="3" name="">
            <a:extLst xmlns:a="http://schemas.openxmlformats.org/drawingml/2006/main">
              <a:ext uri="{FF2B5EF4-FFF2-40B4-BE49-F238E27FC236}">
                <a16:creationId xmlns:a16="http://schemas.microsoft.com/office/drawing/2014/main" id="{1009FF3A-18D2-426E-A12B-44F0E454E1FF}"/>
              </a:ext>
            </a:extLst>
          </p:cNvPr>
          <p:cNvSpPr>
            <a:spLocks xmlns:a="http://schemas.openxmlformats.org/drawingml/2006/main" noGrp="1"/>
          </p:cNvSpPr>
          <p:nvPr/>
        </p:nvSpPr>
        <p:spPr>
          <a:xfrm xmlns:a="http://schemas.openxmlformats.org/drawingml/2006/main">
            <a:off x="609600" y="590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063B5C"/>
                </a:solidFill>
                <a:latin typeface="Arial"/>
                <a:ea typeface="Arial"/>
                <a:cs typeface="Arial"/>
              </a:defRPr>
            </a:pPr>
            <a:r>
              <a:rPr sz="2550" b="1">
                <a:solidFill>
                  <a:srgbClr val="063B5C"/>
                </a:solidFill>
                <a:latin typeface="Arial"/>
                <a:ea typeface="Arial"/>
                <a:cs typeface="Arial"/>
              </a:rPr>
              <a:t>Phương thức lựa chọn nhà thầu</a:t>
            </a:r>
          </a:p>
        </p:txBody>
      </p:sp>
      <p:sp>
        <p:nvSpPr>
          <p:cNvPr id="4" name="">
            <a:extLst xmlns:a="http://schemas.openxmlformats.org/drawingml/2006/main">
              <a:ext uri="{FF2B5EF4-FFF2-40B4-BE49-F238E27FC236}">
                <a16:creationId xmlns:a16="http://schemas.microsoft.com/office/drawing/2014/main" id="{D6F2DC1E-0AB8-4122-9E68-A088A75D2951}"/>
              </a:ext>
            </a:extLst>
          </p:cNvPr>
          <p:cNvSpPr>
            <a:spLocks xmlns:a="http://schemas.openxmlformats.org/drawingml/2006/main" noGrp="1"/>
          </p:cNvSpPr>
          <p:nvPr/>
        </p:nvSpPr>
        <p:spPr>
          <a:xfrm xmlns:a="http://schemas.openxmlformats.org/drawingml/2006/main">
            <a:off x="609600" y="65151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0">
                <a:solidFill>
                  <a:srgbClr val="5C6B73"/>
                </a:solidFill>
                <a:latin typeface="Arial"/>
                <a:ea typeface="Arial"/>
                <a:cs typeface="Arial"/>
              </a:defRPr>
            </a:pPr>
            <a:r>
              <a:rPr sz="750" b="0">
                <a:solidFill>
                  <a:srgbClr val="5C6B73"/>
                </a:solidFill>
                <a:latin typeface="Arial"/>
                <a:ea typeface="Arial"/>
                <a:cs typeface="Arial"/>
              </a:rPr>
              <a:t>Nguồn: Luật Đấu thầu hợp nhất 22/2023, sửa đổi 57/2024 và 90/2025; NĐ 214/2025; NĐ 349/2026; tài liệu nội bộ Viettel 2026</a:t>
            </a:r>
          </a:p>
        </p:txBody>
      </p:sp>
      <p:sp>
        <p:nvSpPr>
          <p:cNvPr id="5" name="">
            <a:extLst xmlns:a="http://schemas.openxmlformats.org/drawingml/2006/main">
              <a:ext uri="{FF2B5EF4-FFF2-40B4-BE49-F238E27FC236}">
                <a16:creationId xmlns:a16="http://schemas.microsoft.com/office/drawing/2014/main" id="{8CCFED64-0128-498F-BB1F-6D031E2F4F78}"/>
              </a:ext>
            </a:extLst>
          </p:cNvPr>
          <p:cNvSpPr>
            <a:spLocks xmlns:a="http://schemas.openxmlformats.org/drawingml/2006/main" noGrp="1"/>
          </p:cNvSpPr>
          <p:nvPr/>
        </p:nvSpPr>
        <p:spPr>
          <a:xfrm xmlns:a="http://schemas.openxmlformats.org/drawingml/2006/main">
            <a:off x="876300" y="1476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0077A8"/>
                </a:solidFill>
                <a:latin typeface="Arial"/>
                <a:ea typeface="Arial"/>
                <a:cs typeface="Arial"/>
              </a:defRPr>
            </a:pPr>
            <a:r>
              <a:rPr sz="1650" b="1">
                <a:solidFill>
                  <a:srgbClr val="0077A8"/>
                </a:solidFill>
                <a:latin typeface="Arial"/>
                <a:ea typeface="Arial"/>
                <a:cs typeface="Arial"/>
              </a:rPr>
              <a:t>Một giai đoạn, một túi hồ sơ</a:t>
            </a:r>
          </a:p>
        </p:txBody>
      </p:sp>
      <p:sp>
        <p:nvSpPr>
          <p:cNvPr id="6" name="">
            <a:extLst xmlns:a="http://schemas.openxmlformats.org/drawingml/2006/main">
              <a:ext uri="{FF2B5EF4-FFF2-40B4-BE49-F238E27FC236}">
                <a16:creationId xmlns:a16="http://schemas.microsoft.com/office/drawing/2014/main" id="{83343B0B-9EC6-4ADD-B36C-5F731FF56CC7}"/>
              </a:ext>
            </a:extLst>
          </p:cNvPr>
          <p:cNvSpPr>
            <a:spLocks xmlns:a="http://schemas.openxmlformats.org/drawingml/2006/main" noGrp="1"/>
          </p:cNvSpPr>
          <p:nvPr/>
        </p:nvSpPr>
        <p:spPr>
          <a:xfrm xmlns:a="http://schemas.openxmlformats.org/drawingml/2006/main">
            <a:off x="5143500" y="1476375"/>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173042"/>
                </a:solidFill>
                <a:latin typeface="Arial"/>
                <a:ea typeface="Arial"/>
                <a:cs typeface="Arial"/>
              </a:defRPr>
            </a:pPr>
            <a:r>
              <a:rPr sz="1500" b="0">
                <a:solidFill>
                  <a:srgbClr val="173042"/>
                </a:solidFill>
                <a:latin typeface="Arial"/>
                <a:ea typeface="Arial"/>
                <a:cs typeface="Arial"/>
              </a:rPr>
              <a:t>Hồ sơ kỹ thuật và tài chính cùng nộp</a:t>
            </a:r>
          </a:p>
        </p:txBody>
      </p:sp>
      <p:sp>
        <p:nvSpPr>
          <p:cNvPr id="7" name="">
            <a:extLst xmlns:a="http://schemas.openxmlformats.org/drawingml/2006/main">
              <a:ext uri="{FF2B5EF4-FFF2-40B4-BE49-F238E27FC236}">
                <a16:creationId xmlns:a16="http://schemas.microsoft.com/office/drawing/2014/main" id="{8FCAD647-597D-4083-991C-5856AD99CDF0}"/>
              </a:ext>
            </a:extLst>
          </p:cNvPr>
          <p:cNvSpPr>
            <a:spLocks xmlns:a="http://schemas.openxmlformats.org/drawingml/2006/main" noGrp="1"/>
          </p:cNvSpPr>
          <p:nvPr/>
        </p:nvSpPr>
        <p:spPr>
          <a:xfrm xmlns:a="http://schemas.openxmlformats.org/drawingml/2006/main">
            <a:off x="762000" y="2162175"/>
            <a:ext cx="10001250" cy="19050"/>
          </a:xfrm>
          <a:prstGeom xmlns:a="http://schemas.openxmlformats.org/drawingml/2006/main" prst="rect">
            <a:avLst/>
          </a:prstGeom>
          <a:solidFill xmlns:a="http://schemas.openxmlformats.org/drawingml/2006/main">
            <a:srgbClr val="D6E7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772CB75-F937-41F5-B6FA-91188326843F}"/>
              </a:ext>
            </a:extLst>
          </p:cNvPr>
          <p:cNvSpPr>
            <a:spLocks xmlns:a="http://schemas.openxmlformats.org/drawingml/2006/main" noGrp="1"/>
          </p:cNvSpPr>
          <p:nvPr/>
        </p:nvSpPr>
        <p:spPr>
          <a:xfrm xmlns:a="http://schemas.openxmlformats.org/drawingml/2006/main">
            <a:off x="876300" y="24765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0077A8"/>
                </a:solidFill>
                <a:latin typeface="Arial"/>
                <a:ea typeface="Arial"/>
                <a:cs typeface="Arial"/>
              </a:defRPr>
            </a:pPr>
            <a:r>
              <a:rPr sz="1650" b="1">
                <a:solidFill>
                  <a:srgbClr val="0077A8"/>
                </a:solidFill>
                <a:latin typeface="Arial"/>
                <a:ea typeface="Arial"/>
                <a:cs typeface="Arial"/>
              </a:rPr>
              <a:t>Một giai đoạn, hai túi hồ sơ</a:t>
            </a:r>
          </a:p>
        </p:txBody>
      </p:sp>
      <p:sp>
        <p:nvSpPr>
          <p:cNvPr id="9" name="">
            <a:extLst xmlns:a="http://schemas.openxmlformats.org/drawingml/2006/main">
              <a:ext uri="{FF2B5EF4-FFF2-40B4-BE49-F238E27FC236}">
                <a16:creationId xmlns:a16="http://schemas.microsoft.com/office/drawing/2014/main" id="{D7AF51B4-F8F5-403E-AD78-9F85ACB2E2C8}"/>
              </a:ext>
            </a:extLst>
          </p:cNvPr>
          <p:cNvSpPr>
            <a:spLocks xmlns:a="http://schemas.openxmlformats.org/drawingml/2006/main" noGrp="1"/>
          </p:cNvSpPr>
          <p:nvPr/>
        </p:nvSpPr>
        <p:spPr>
          <a:xfrm xmlns:a="http://schemas.openxmlformats.org/drawingml/2006/main">
            <a:off x="5143500" y="2476500"/>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173042"/>
                </a:solidFill>
                <a:latin typeface="Arial"/>
                <a:ea typeface="Arial"/>
                <a:cs typeface="Arial"/>
              </a:defRPr>
            </a:pPr>
            <a:r>
              <a:rPr sz="1500" b="0">
                <a:solidFill>
                  <a:srgbClr val="173042"/>
                </a:solidFill>
                <a:latin typeface="Arial"/>
                <a:ea typeface="Arial"/>
                <a:cs typeface="Arial"/>
              </a:rPr>
              <a:t>Đánh giá kỹ thuật trước, tài chính sau</a:t>
            </a:r>
          </a:p>
        </p:txBody>
      </p:sp>
      <p:sp>
        <p:nvSpPr>
          <p:cNvPr id="10" name="">
            <a:extLst xmlns:a="http://schemas.openxmlformats.org/drawingml/2006/main">
              <a:ext uri="{FF2B5EF4-FFF2-40B4-BE49-F238E27FC236}">
                <a16:creationId xmlns:a16="http://schemas.microsoft.com/office/drawing/2014/main" id="{E9F2CDAF-6E36-40BB-9CDA-63622CBFC0D6}"/>
              </a:ext>
            </a:extLst>
          </p:cNvPr>
          <p:cNvSpPr>
            <a:spLocks xmlns:a="http://schemas.openxmlformats.org/drawingml/2006/main" noGrp="1"/>
          </p:cNvSpPr>
          <p:nvPr/>
        </p:nvSpPr>
        <p:spPr>
          <a:xfrm xmlns:a="http://schemas.openxmlformats.org/drawingml/2006/main">
            <a:off x="762000" y="3162300"/>
            <a:ext cx="10001250" cy="19050"/>
          </a:xfrm>
          <a:prstGeom xmlns:a="http://schemas.openxmlformats.org/drawingml/2006/main" prst="rect">
            <a:avLst/>
          </a:prstGeom>
          <a:solidFill xmlns:a="http://schemas.openxmlformats.org/drawingml/2006/main">
            <a:srgbClr val="D6E7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7BF7B1D-1C21-4D24-B6D8-26B7C5FF122E}"/>
              </a:ext>
            </a:extLst>
          </p:cNvPr>
          <p:cNvSpPr>
            <a:spLocks xmlns:a="http://schemas.openxmlformats.org/drawingml/2006/main" noGrp="1"/>
          </p:cNvSpPr>
          <p:nvPr/>
        </p:nvSpPr>
        <p:spPr>
          <a:xfrm xmlns:a="http://schemas.openxmlformats.org/drawingml/2006/main">
            <a:off x="876300" y="347662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0077A8"/>
                </a:solidFill>
                <a:latin typeface="Arial"/>
                <a:ea typeface="Arial"/>
                <a:cs typeface="Arial"/>
              </a:defRPr>
            </a:pPr>
            <a:r>
              <a:rPr sz="1650" b="1">
                <a:solidFill>
                  <a:srgbClr val="0077A8"/>
                </a:solidFill>
                <a:latin typeface="Arial"/>
                <a:ea typeface="Arial"/>
                <a:cs typeface="Arial"/>
              </a:rPr>
              <a:t>Hai giai đoạn, một túi hồ sơ</a:t>
            </a:r>
          </a:p>
        </p:txBody>
      </p:sp>
      <p:sp>
        <p:nvSpPr>
          <p:cNvPr id="12" name="">
            <a:extLst xmlns:a="http://schemas.openxmlformats.org/drawingml/2006/main">
              <a:ext uri="{FF2B5EF4-FFF2-40B4-BE49-F238E27FC236}">
                <a16:creationId xmlns:a16="http://schemas.microsoft.com/office/drawing/2014/main" id="{B641E3F0-6038-4BB6-92F9-C6EC0F61BB8A}"/>
              </a:ext>
            </a:extLst>
          </p:cNvPr>
          <p:cNvSpPr>
            <a:spLocks xmlns:a="http://schemas.openxmlformats.org/drawingml/2006/main" noGrp="1"/>
          </p:cNvSpPr>
          <p:nvPr/>
        </p:nvSpPr>
        <p:spPr>
          <a:xfrm xmlns:a="http://schemas.openxmlformats.org/drawingml/2006/main">
            <a:off x="5143500" y="3476625"/>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173042"/>
                </a:solidFill>
                <a:latin typeface="Arial"/>
                <a:ea typeface="Arial"/>
                <a:cs typeface="Arial"/>
              </a:defRPr>
            </a:pPr>
            <a:r>
              <a:rPr sz="1500" b="0">
                <a:solidFill>
                  <a:srgbClr val="173042"/>
                </a:solidFill>
                <a:latin typeface="Arial"/>
                <a:ea typeface="Arial"/>
                <a:cs typeface="Arial"/>
              </a:rPr>
              <a:t>Khi chưa xác định đầy đủ yêu cầu</a:t>
            </a:r>
          </a:p>
        </p:txBody>
      </p:sp>
      <p:sp>
        <p:nvSpPr>
          <p:cNvPr id="13" name="">
            <a:extLst xmlns:a="http://schemas.openxmlformats.org/drawingml/2006/main">
              <a:ext uri="{FF2B5EF4-FFF2-40B4-BE49-F238E27FC236}">
                <a16:creationId xmlns:a16="http://schemas.microsoft.com/office/drawing/2014/main" id="{80ADBF89-D936-41A0-9A24-CC9B678853D8}"/>
              </a:ext>
            </a:extLst>
          </p:cNvPr>
          <p:cNvSpPr>
            <a:spLocks xmlns:a="http://schemas.openxmlformats.org/drawingml/2006/main" noGrp="1"/>
          </p:cNvSpPr>
          <p:nvPr/>
        </p:nvSpPr>
        <p:spPr>
          <a:xfrm xmlns:a="http://schemas.openxmlformats.org/drawingml/2006/main">
            <a:off x="762000" y="4162425"/>
            <a:ext cx="10001250" cy="19050"/>
          </a:xfrm>
          <a:prstGeom xmlns:a="http://schemas.openxmlformats.org/drawingml/2006/main" prst="rect">
            <a:avLst/>
          </a:prstGeom>
          <a:solidFill xmlns:a="http://schemas.openxmlformats.org/drawingml/2006/main">
            <a:srgbClr val="D6E7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3E01077-F201-416C-9313-6DE1BD62295F}"/>
              </a:ext>
            </a:extLst>
          </p:cNvPr>
          <p:cNvSpPr>
            <a:spLocks xmlns:a="http://schemas.openxmlformats.org/drawingml/2006/main" noGrp="1"/>
          </p:cNvSpPr>
          <p:nvPr/>
        </p:nvSpPr>
        <p:spPr>
          <a:xfrm xmlns:a="http://schemas.openxmlformats.org/drawingml/2006/main">
            <a:off x="876300" y="447675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0077A8"/>
                </a:solidFill>
                <a:latin typeface="Arial"/>
                <a:ea typeface="Arial"/>
                <a:cs typeface="Arial"/>
              </a:defRPr>
            </a:pPr>
            <a:r>
              <a:rPr sz="1650" b="1">
                <a:solidFill>
                  <a:srgbClr val="0077A8"/>
                </a:solidFill>
                <a:latin typeface="Arial"/>
                <a:ea typeface="Arial"/>
                <a:cs typeface="Arial"/>
              </a:rPr>
              <a:t>Hai giai đoạn, hai túi hồ sơ</a:t>
            </a:r>
          </a:p>
        </p:txBody>
      </p:sp>
      <p:sp>
        <p:nvSpPr>
          <p:cNvPr id="15" name="">
            <a:extLst xmlns:a="http://schemas.openxmlformats.org/drawingml/2006/main">
              <a:ext uri="{FF2B5EF4-FFF2-40B4-BE49-F238E27FC236}">
                <a16:creationId xmlns:a16="http://schemas.microsoft.com/office/drawing/2014/main" id="{0061B9B5-E8A2-4A70-8AA9-16C17572E0F3}"/>
              </a:ext>
            </a:extLst>
          </p:cNvPr>
          <p:cNvSpPr>
            <a:spLocks xmlns:a="http://schemas.openxmlformats.org/drawingml/2006/main" noGrp="1"/>
          </p:cNvSpPr>
          <p:nvPr/>
        </p:nvSpPr>
        <p:spPr>
          <a:xfrm xmlns:a="http://schemas.openxmlformats.org/drawingml/2006/main">
            <a:off x="5143500" y="4476750"/>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173042"/>
                </a:solidFill>
                <a:latin typeface="Arial"/>
                <a:ea typeface="Arial"/>
                <a:cs typeface="Arial"/>
              </a:defRPr>
            </a:pPr>
            <a:r>
              <a:rPr sz="1500" b="0">
                <a:solidFill>
                  <a:srgbClr val="173042"/>
                </a:solidFill>
                <a:latin typeface="Arial"/>
                <a:ea typeface="Arial"/>
                <a:cs typeface="Arial"/>
              </a:rPr>
              <a:t>Dự án lớn, phức tạp, cần làm rõ dần</a:t>
            </a:r>
          </a:p>
        </p:txBody>
      </p:sp>
      <p:sp>
        <p:nvSpPr>
          <p:cNvPr id="16" name="">
            <a:extLst xmlns:a="http://schemas.openxmlformats.org/drawingml/2006/main">
              <a:ext uri="{FF2B5EF4-FFF2-40B4-BE49-F238E27FC236}">
                <a16:creationId xmlns:a16="http://schemas.microsoft.com/office/drawing/2014/main" id="{8867B794-AD5E-40F6-BC3A-B4484DF53A47}"/>
              </a:ext>
            </a:extLst>
          </p:cNvPr>
          <p:cNvSpPr>
            <a:spLocks xmlns:a="http://schemas.openxmlformats.org/drawingml/2006/main" noGrp="1"/>
          </p:cNvSpPr>
          <p:nvPr/>
        </p:nvSpPr>
        <p:spPr>
          <a:xfrm xmlns:a="http://schemas.openxmlformats.org/drawingml/2006/main">
            <a:off x="762000" y="5162550"/>
            <a:ext cx="10001250" cy="19050"/>
          </a:xfrm>
          <a:prstGeom xmlns:a="http://schemas.openxmlformats.org/drawingml/2006/main" prst="rect">
            <a:avLst/>
          </a:prstGeom>
          <a:solidFill xmlns:a="http://schemas.openxmlformats.org/drawingml/2006/main">
            <a:srgbClr val="D6E7EC"/>
          </a:solidFill>
          <a:ln xmlns:a="http://schemas.openxmlformats.org/drawingml/2006/main" w="0">
            <a:noFill/>
          </a:ln>
        </p:spPr>
      </p:sp>
    </p:spTree>
    <p:extLst>
      <p:ext uri="{BB962C8B-B14F-4D97-AF65-F5344CB8AC3E}">
        <p14:creationId xmlns:p14="http://schemas.microsoft.com/office/powerpoint/2010/main" val="16892843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1E64E37-6BF4-4B5C-8D98-15E3CFDF2FA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FB6753-3C36-46BA-9A1E-7FF10F2FD2FD}"/>
              </a:ext>
            </a:extLst>
          </p:cNvPr>
          <p:cNvSpPr>
            <a:spLocks xmlns:a="http://schemas.openxmlformats.org/drawingml/2006/main" noGrp="1"/>
          </p:cNvSpPr>
          <p:nvPr/>
        </p:nvSpPr>
        <p:spPr>
          <a:xfrm xmlns:a="http://schemas.openxmlformats.org/drawingml/2006/main">
            <a:off x="609600" y="285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0077A8"/>
                </a:solidFill>
                <a:latin typeface="Arial"/>
                <a:ea typeface="Arial"/>
                <a:cs typeface="Arial"/>
              </a:defRPr>
            </a:pPr>
            <a:r>
              <a:rPr sz="975" b="1">
                <a:solidFill>
                  <a:srgbClr val="0077A8"/>
                </a:solidFill>
                <a:latin typeface="Arial"/>
                <a:ea typeface="Arial"/>
                <a:cs typeface="Arial"/>
              </a:rPr>
              <a:t>LUẬT ĐẤU THẦU | 60 PHÚT</a:t>
            </a:r>
          </a:p>
        </p:txBody>
      </p:sp>
      <p:sp>
        <p:nvSpPr>
          <p:cNvPr id="3" name="">
            <a:extLst xmlns:a="http://schemas.openxmlformats.org/drawingml/2006/main">
              <a:ext uri="{FF2B5EF4-FFF2-40B4-BE49-F238E27FC236}">
                <a16:creationId xmlns:a16="http://schemas.microsoft.com/office/drawing/2014/main" id="{ABE4A784-B437-4159-A1CB-EAF61B620EA3}"/>
              </a:ext>
            </a:extLst>
          </p:cNvPr>
          <p:cNvSpPr>
            <a:spLocks xmlns:a="http://schemas.openxmlformats.org/drawingml/2006/main" noGrp="1"/>
          </p:cNvSpPr>
          <p:nvPr/>
        </p:nvSpPr>
        <p:spPr>
          <a:xfrm xmlns:a="http://schemas.openxmlformats.org/drawingml/2006/main">
            <a:off x="609600" y="590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063B5C"/>
                </a:solidFill>
                <a:latin typeface="Arial"/>
                <a:ea typeface="Arial"/>
                <a:cs typeface="Arial"/>
              </a:defRPr>
            </a:pPr>
            <a:r>
              <a:rPr sz="2550" b="1">
                <a:solidFill>
                  <a:srgbClr val="063B5C"/>
                </a:solidFill>
                <a:latin typeface="Arial"/>
                <a:ea typeface="Arial"/>
                <a:cs typeface="Arial"/>
              </a:rPr>
              <a:t>Viettel và Luật Đấu thầu: phần giao nhau</a:t>
            </a:r>
          </a:p>
        </p:txBody>
      </p:sp>
      <p:sp>
        <p:nvSpPr>
          <p:cNvPr id="4" name="">
            <a:extLst xmlns:a="http://schemas.openxmlformats.org/drawingml/2006/main">
              <a:ext uri="{FF2B5EF4-FFF2-40B4-BE49-F238E27FC236}">
                <a16:creationId xmlns:a16="http://schemas.microsoft.com/office/drawing/2014/main" id="{98A061C5-474E-4BF6-96F1-502BB5FDF8DA}"/>
              </a:ext>
            </a:extLst>
          </p:cNvPr>
          <p:cNvSpPr>
            <a:spLocks xmlns:a="http://schemas.openxmlformats.org/drawingml/2006/main" noGrp="1"/>
          </p:cNvSpPr>
          <p:nvPr/>
        </p:nvSpPr>
        <p:spPr>
          <a:xfrm xmlns:a="http://schemas.openxmlformats.org/drawingml/2006/main">
            <a:off x="609600" y="65151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0">
                <a:solidFill>
                  <a:srgbClr val="5C6B73"/>
                </a:solidFill>
                <a:latin typeface="Arial"/>
                <a:ea typeface="Arial"/>
                <a:cs typeface="Arial"/>
              </a:defRPr>
            </a:pPr>
            <a:r>
              <a:rPr sz="750" b="0">
                <a:solidFill>
                  <a:srgbClr val="5C6B73"/>
                </a:solidFill>
                <a:latin typeface="Arial"/>
                <a:ea typeface="Arial"/>
                <a:cs typeface="Arial"/>
              </a:rPr>
              <a:t>Nguồn: Luật Đấu thầu hợp nhất 22/2023, sửa đổi 57/2024 và 90/2025; NĐ 214/2025; NĐ 349/2026; tài liệu nội bộ Viettel 2026</a:t>
            </a:r>
          </a:p>
        </p:txBody>
      </p:sp>
      <p:sp>
        <p:nvSpPr>
          <p:cNvPr id="5" name="">
            <a:extLst xmlns:a="http://schemas.openxmlformats.org/drawingml/2006/main">
              <a:ext uri="{FF2B5EF4-FFF2-40B4-BE49-F238E27FC236}">
                <a16:creationId xmlns:a16="http://schemas.microsoft.com/office/drawing/2014/main" id="{0DBC643B-B914-4266-A75D-A714B83C1E13}"/>
              </a:ext>
            </a:extLst>
          </p:cNvPr>
          <p:cNvSpPr>
            <a:spLocks xmlns:a="http://schemas.openxmlformats.org/drawingml/2006/main" noGrp="1"/>
          </p:cNvSpPr>
          <p:nvPr/>
        </p:nvSpPr>
        <p:spPr>
          <a:xfrm xmlns:a="http://schemas.openxmlformats.org/drawingml/2006/main">
            <a:off x="857250" y="138112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0077A8"/>
                </a:solidFill>
                <a:latin typeface="Arial"/>
                <a:ea typeface="Arial"/>
                <a:cs typeface="Arial"/>
              </a:defRPr>
            </a:pPr>
            <a:r>
              <a:rPr sz="1650" b="1">
                <a:solidFill>
                  <a:srgbClr val="0077A8"/>
                </a:solidFill>
                <a:latin typeface="Arial"/>
                <a:ea typeface="Arial"/>
                <a:cs typeface="Arial"/>
              </a:rPr>
              <a:t>Giống nhau</a:t>
            </a:r>
          </a:p>
        </p:txBody>
      </p:sp>
      <p:sp>
        <p:nvSpPr>
          <p:cNvPr id="6" name="">
            <a:extLst xmlns:a="http://schemas.openxmlformats.org/drawingml/2006/main">
              <a:ext uri="{FF2B5EF4-FFF2-40B4-BE49-F238E27FC236}">
                <a16:creationId xmlns:a16="http://schemas.microsoft.com/office/drawing/2014/main" id="{D6BAF48D-9075-49F2-920D-D7B5CBA31058}"/>
              </a:ext>
            </a:extLst>
          </p:cNvPr>
          <p:cNvSpPr>
            <a:spLocks xmlns:a="http://schemas.openxmlformats.org/drawingml/2006/main" noGrp="1"/>
          </p:cNvSpPr>
          <p:nvPr/>
        </p:nvSpPr>
        <p:spPr>
          <a:xfrm xmlns:a="http://schemas.openxmlformats.org/drawingml/2006/main">
            <a:off x="857250" y="1952625"/>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6B0329C-B183-4D80-AAEF-4EA37372F46B}"/>
              </a:ext>
            </a:extLst>
          </p:cNvPr>
          <p:cNvSpPr>
            <a:spLocks xmlns:a="http://schemas.openxmlformats.org/drawingml/2006/main" noGrp="1"/>
          </p:cNvSpPr>
          <p:nvPr/>
        </p:nvSpPr>
        <p:spPr>
          <a:xfrm xmlns:a="http://schemas.openxmlformats.org/drawingml/2006/main">
            <a:off x="1123950" y="1876425"/>
            <a:ext cx="4495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173042"/>
                </a:solidFill>
                <a:latin typeface="Arial"/>
                <a:ea typeface="Arial"/>
                <a:cs typeface="Arial"/>
              </a:defRPr>
            </a:pPr>
            <a:r>
              <a:rPr sz="1500" b="0">
                <a:solidFill>
                  <a:srgbClr val="173042"/>
                </a:solidFill>
                <a:latin typeface="Arial"/>
                <a:ea typeface="Arial"/>
                <a:cs typeface="Arial"/>
              </a:rPr>
              <a:t>Đều yêu cầu công khai, minh bạch, cạnh tranh</a:t>
            </a:r>
          </a:p>
        </p:txBody>
      </p:sp>
      <p:sp>
        <p:nvSpPr>
          <p:cNvPr id="8" name="">
            <a:extLst xmlns:a="http://schemas.openxmlformats.org/drawingml/2006/main">
              <a:ext uri="{FF2B5EF4-FFF2-40B4-BE49-F238E27FC236}">
                <a16:creationId xmlns:a16="http://schemas.microsoft.com/office/drawing/2014/main" id="{D7E05A2B-776C-4DB5-8301-51B6A9A96107}"/>
              </a:ext>
            </a:extLst>
          </p:cNvPr>
          <p:cNvSpPr>
            <a:spLocks xmlns:a="http://schemas.openxmlformats.org/drawingml/2006/main" noGrp="1"/>
          </p:cNvSpPr>
          <p:nvPr/>
        </p:nvSpPr>
        <p:spPr>
          <a:xfrm xmlns:a="http://schemas.openxmlformats.org/drawingml/2006/main">
            <a:off x="857250" y="2524125"/>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7BB0995-61E6-4B83-8492-88B9C9C53EDA}"/>
              </a:ext>
            </a:extLst>
          </p:cNvPr>
          <p:cNvSpPr>
            <a:spLocks xmlns:a="http://schemas.openxmlformats.org/drawingml/2006/main" noGrp="1"/>
          </p:cNvSpPr>
          <p:nvPr/>
        </p:nvSpPr>
        <p:spPr>
          <a:xfrm xmlns:a="http://schemas.openxmlformats.org/drawingml/2006/main">
            <a:off x="1123950" y="2447925"/>
            <a:ext cx="4495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173042"/>
                </a:solidFill>
                <a:latin typeface="Arial"/>
                <a:ea typeface="Arial"/>
                <a:cs typeface="Arial"/>
              </a:defRPr>
            </a:pPr>
            <a:r>
              <a:rPr sz="1500" b="0">
                <a:solidFill>
                  <a:srgbClr val="173042"/>
                </a:solidFill>
                <a:latin typeface="Arial"/>
                <a:ea typeface="Arial"/>
                <a:cs typeface="Arial"/>
              </a:rPr>
              <a:t>Đều quản lý theo kế hoạch, HSMT, đánh giá, hợp đồng</a:t>
            </a:r>
          </a:p>
        </p:txBody>
      </p:sp>
      <p:sp>
        <p:nvSpPr>
          <p:cNvPr id="10" name="">
            <a:extLst xmlns:a="http://schemas.openxmlformats.org/drawingml/2006/main">
              <a:ext uri="{FF2B5EF4-FFF2-40B4-BE49-F238E27FC236}">
                <a16:creationId xmlns:a16="http://schemas.microsoft.com/office/drawing/2014/main" id="{EAF54FD4-BA9C-4E60-90F9-A45EC2B00132}"/>
              </a:ext>
            </a:extLst>
          </p:cNvPr>
          <p:cNvSpPr>
            <a:spLocks xmlns:a="http://schemas.openxmlformats.org/drawingml/2006/main" noGrp="1"/>
          </p:cNvSpPr>
          <p:nvPr/>
        </p:nvSpPr>
        <p:spPr>
          <a:xfrm xmlns:a="http://schemas.openxmlformats.org/drawingml/2006/main">
            <a:off x="857250" y="3095625"/>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EE520A3-4C9A-435E-B2AD-996D2F8ADA64}"/>
              </a:ext>
            </a:extLst>
          </p:cNvPr>
          <p:cNvSpPr>
            <a:spLocks xmlns:a="http://schemas.openxmlformats.org/drawingml/2006/main" noGrp="1"/>
          </p:cNvSpPr>
          <p:nvPr/>
        </p:nvSpPr>
        <p:spPr>
          <a:xfrm xmlns:a="http://schemas.openxmlformats.org/drawingml/2006/main">
            <a:off x="1123950" y="3019425"/>
            <a:ext cx="4495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173042"/>
                </a:solidFill>
                <a:latin typeface="Arial"/>
                <a:ea typeface="Arial"/>
                <a:cs typeface="Arial"/>
              </a:defRPr>
            </a:pPr>
            <a:r>
              <a:rPr sz="1500" b="0">
                <a:solidFill>
                  <a:srgbClr val="173042"/>
                </a:solidFill>
                <a:latin typeface="Arial"/>
                <a:ea typeface="Arial"/>
                <a:cs typeface="Arial"/>
              </a:rPr>
              <a:t>Đều cần phân định thẩm quyền và trách nhiệm</a:t>
            </a:r>
          </a:p>
        </p:txBody>
      </p:sp>
      <p:sp>
        <p:nvSpPr>
          <p:cNvPr id="12" name="">
            <a:extLst xmlns:a="http://schemas.openxmlformats.org/drawingml/2006/main">
              <a:ext uri="{FF2B5EF4-FFF2-40B4-BE49-F238E27FC236}">
                <a16:creationId xmlns:a16="http://schemas.microsoft.com/office/drawing/2014/main" id="{24476D55-7213-4ED3-93C9-0BE9AFB91B9C}"/>
              </a:ext>
            </a:extLst>
          </p:cNvPr>
          <p:cNvSpPr>
            <a:spLocks xmlns:a="http://schemas.openxmlformats.org/drawingml/2006/main" noGrp="1"/>
          </p:cNvSpPr>
          <p:nvPr/>
        </p:nvSpPr>
        <p:spPr>
          <a:xfrm xmlns:a="http://schemas.openxmlformats.org/drawingml/2006/main">
            <a:off x="6572250" y="138112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0077A8"/>
                </a:solidFill>
                <a:latin typeface="Arial"/>
                <a:ea typeface="Arial"/>
                <a:cs typeface="Arial"/>
              </a:defRPr>
            </a:pPr>
            <a:r>
              <a:rPr sz="1650" b="1">
                <a:solidFill>
                  <a:srgbClr val="0077A8"/>
                </a:solidFill>
                <a:latin typeface="Arial"/>
                <a:ea typeface="Arial"/>
                <a:cs typeface="Arial"/>
              </a:rPr>
              <a:t>Cách đọc đúng</a:t>
            </a:r>
          </a:p>
        </p:txBody>
      </p:sp>
      <p:sp>
        <p:nvSpPr>
          <p:cNvPr id="13" name="">
            <a:extLst xmlns:a="http://schemas.openxmlformats.org/drawingml/2006/main">
              <a:ext uri="{FF2B5EF4-FFF2-40B4-BE49-F238E27FC236}">
                <a16:creationId xmlns:a16="http://schemas.microsoft.com/office/drawing/2014/main" id="{09BD5E59-0A9C-4014-A6B2-46B95AD8DBC1}"/>
              </a:ext>
            </a:extLst>
          </p:cNvPr>
          <p:cNvSpPr>
            <a:spLocks xmlns:a="http://schemas.openxmlformats.org/drawingml/2006/main" noGrp="1"/>
          </p:cNvSpPr>
          <p:nvPr/>
        </p:nvSpPr>
        <p:spPr>
          <a:xfrm xmlns:a="http://schemas.openxmlformats.org/drawingml/2006/main">
            <a:off x="6572250" y="1952625"/>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B9C639E-80D3-400F-8E62-CA626D8574D1}"/>
              </a:ext>
            </a:extLst>
          </p:cNvPr>
          <p:cNvSpPr>
            <a:spLocks xmlns:a="http://schemas.openxmlformats.org/drawingml/2006/main" noGrp="1"/>
          </p:cNvSpPr>
          <p:nvPr/>
        </p:nvSpPr>
        <p:spPr>
          <a:xfrm xmlns:a="http://schemas.openxmlformats.org/drawingml/2006/main">
            <a:off x="6838950" y="1876425"/>
            <a:ext cx="4495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173042"/>
                </a:solidFill>
                <a:latin typeface="Arial"/>
                <a:ea typeface="Arial"/>
                <a:cs typeface="Arial"/>
              </a:defRPr>
            </a:pPr>
            <a:r>
              <a:rPr sz="1500" b="0">
                <a:solidFill>
                  <a:srgbClr val="173042"/>
                </a:solidFill>
                <a:latin typeface="Arial"/>
                <a:ea typeface="Arial"/>
                <a:cs typeface="Arial"/>
              </a:rPr>
              <a:t>Luật là nền tảng bắt buộc khi thuộc phạm vi điều chỉnh</a:t>
            </a:r>
          </a:p>
        </p:txBody>
      </p:sp>
      <p:sp>
        <p:nvSpPr>
          <p:cNvPr id="15" name="">
            <a:extLst xmlns:a="http://schemas.openxmlformats.org/drawingml/2006/main">
              <a:ext uri="{FF2B5EF4-FFF2-40B4-BE49-F238E27FC236}">
                <a16:creationId xmlns:a16="http://schemas.microsoft.com/office/drawing/2014/main" id="{796AFB57-701F-4FCC-BF50-CE739C8E5508}"/>
              </a:ext>
            </a:extLst>
          </p:cNvPr>
          <p:cNvSpPr>
            <a:spLocks xmlns:a="http://schemas.openxmlformats.org/drawingml/2006/main" noGrp="1"/>
          </p:cNvSpPr>
          <p:nvPr/>
        </p:nvSpPr>
        <p:spPr>
          <a:xfrm xmlns:a="http://schemas.openxmlformats.org/drawingml/2006/main">
            <a:off x="6572250" y="2524125"/>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FEB5B3C-9342-4A97-BE10-C1E16F48B17D}"/>
              </a:ext>
            </a:extLst>
          </p:cNvPr>
          <p:cNvSpPr>
            <a:spLocks xmlns:a="http://schemas.openxmlformats.org/drawingml/2006/main" noGrp="1"/>
          </p:cNvSpPr>
          <p:nvPr/>
        </p:nvSpPr>
        <p:spPr>
          <a:xfrm xmlns:a="http://schemas.openxmlformats.org/drawingml/2006/main">
            <a:off x="6838950" y="2447925"/>
            <a:ext cx="4495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173042"/>
                </a:solidFill>
                <a:latin typeface="Arial"/>
                <a:ea typeface="Arial"/>
                <a:cs typeface="Arial"/>
              </a:defRPr>
            </a:pPr>
            <a:r>
              <a:rPr sz="1500" b="0">
                <a:solidFill>
                  <a:srgbClr val="173042"/>
                </a:solidFill>
                <a:latin typeface="Arial"/>
                <a:ea typeface="Arial"/>
                <a:cs typeface="Arial"/>
              </a:rPr>
              <a:t>Quy chế Viettel là quy định nội bộ của doanh nghiệp</a:t>
            </a:r>
          </a:p>
        </p:txBody>
      </p:sp>
      <p:sp>
        <p:nvSpPr>
          <p:cNvPr id="17" name="">
            <a:extLst xmlns:a="http://schemas.openxmlformats.org/drawingml/2006/main">
              <a:ext uri="{FF2B5EF4-FFF2-40B4-BE49-F238E27FC236}">
                <a16:creationId xmlns:a16="http://schemas.microsoft.com/office/drawing/2014/main" id="{0270F674-242F-46EA-BA8B-4BF1C872C2C2}"/>
              </a:ext>
            </a:extLst>
          </p:cNvPr>
          <p:cNvSpPr>
            <a:spLocks xmlns:a="http://schemas.openxmlformats.org/drawingml/2006/main" noGrp="1"/>
          </p:cNvSpPr>
          <p:nvPr/>
        </p:nvSpPr>
        <p:spPr>
          <a:xfrm xmlns:a="http://schemas.openxmlformats.org/drawingml/2006/main">
            <a:off x="6572250" y="3095625"/>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6988355-1BC2-48CF-BCE5-6F41F721E076}"/>
              </a:ext>
            </a:extLst>
          </p:cNvPr>
          <p:cNvSpPr>
            <a:spLocks xmlns:a="http://schemas.openxmlformats.org/drawingml/2006/main" noGrp="1"/>
          </p:cNvSpPr>
          <p:nvPr/>
        </p:nvSpPr>
        <p:spPr>
          <a:xfrm xmlns:a="http://schemas.openxmlformats.org/drawingml/2006/main">
            <a:off x="6838950" y="3019425"/>
            <a:ext cx="4495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0">
                <a:solidFill>
                  <a:srgbClr val="173042"/>
                </a:solidFill>
                <a:latin typeface="Arial"/>
                <a:ea typeface="Arial"/>
                <a:cs typeface="Arial"/>
              </a:defRPr>
            </a:pPr>
            <a:r>
              <a:rPr sz="1500" b="0">
                <a:solidFill>
                  <a:srgbClr val="173042"/>
                </a:solidFill>
                <a:latin typeface="Arial"/>
                <a:ea typeface="Arial"/>
                <a:cs typeface="Arial"/>
              </a:rPr>
              <a:t>Khi không thuộc phạm vi bắt buộc, Viettel tự quyết định mức áp dụng</a:t>
            </a:r>
          </a:p>
        </p:txBody>
      </p:sp>
    </p:spTree>
    <p:extLst>
      <p:ext uri="{BB962C8B-B14F-4D97-AF65-F5344CB8AC3E}">
        <p14:creationId xmlns:p14="http://schemas.microsoft.com/office/powerpoint/2010/main" val="16335126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A76F0F4-F9A2-41CA-BB73-4FAE00B28AB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5829D1-2CF1-42D2-8A69-EDE0FC68D73C}"/>
              </a:ext>
            </a:extLst>
          </p:cNvPr>
          <p:cNvSpPr>
            <a:spLocks xmlns:a="http://schemas.openxmlformats.org/drawingml/2006/main" noGrp="1"/>
          </p:cNvSpPr>
          <p:nvPr/>
        </p:nvSpPr>
        <p:spPr>
          <a:xfrm xmlns:a="http://schemas.openxmlformats.org/drawingml/2006/main">
            <a:off x="609600" y="285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0077A8"/>
                </a:solidFill>
                <a:latin typeface="Arial"/>
                <a:ea typeface="Arial"/>
                <a:cs typeface="Arial"/>
              </a:defRPr>
            </a:pPr>
            <a:r>
              <a:rPr sz="975" b="1">
                <a:solidFill>
                  <a:srgbClr val="0077A8"/>
                </a:solidFill>
                <a:latin typeface="Arial"/>
                <a:ea typeface="Arial"/>
                <a:cs typeface="Arial"/>
              </a:rPr>
              <a:t>LUẬT ĐẤU THẦU | 60 PHÚT</a:t>
            </a:r>
          </a:p>
        </p:txBody>
      </p:sp>
      <p:sp>
        <p:nvSpPr>
          <p:cNvPr id="3" name="">
            <a:extLst xmlns:a="http://schemas.openxmlformats.org/drawingml/2006/main">
              <a:ext uri="{FF2B5EF4-FFF2-40B4-BE49-F238E27FC236}">
                <a16:creationId xmlns:a16="http://schemas.microsoft.com/office/drawing/2014/main" id="{77DD6700-DCBF-401B-95D7-F313459472AA}"/>
              </a:ext>
            </a:extLst>
          </p:cNvPr>
          <p:cNvSpPr>
            <a:spLocks xmlns:a="http://schemas.openxmlformats.org/drawingml/2006/main" noGrp="1"/>
          </p:cNvSpPr>
          <p:nvPr/>
        </p:nvSpPr>
        <p:spPr>
          <a:xfrm xmlns:a="http://schemas.openxmlformats.org/drawingml/2006/main">
            <a:off x="609600" y="590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063B5C"/>
                </a:solidFill>
                <a:latin typeface="Arial"/>
                <a:ea typeface="Arial"/>
                <a:cs typeface="Arial"/>
              </a:defRPr>
            </a:pPr>
            <a:r>
              <a:rPr sz="2550" b="1">
                <a:solidFill>
                  <a:srgbClr val="063B5C"/>
                </a:solidFill>
                <a:latin typeface="Arial"/>
                <a:ea typeface="Arial"/>
                <a:cs typeface="Arial"/>
              </a:rPr>
              <a:t>Viettel và Luật Đấu thầu: phần khác nhau</a:t>
            </a:r>
          </a:p>
        </p:txBody>
      </p:sp>
      <p:sp>
        <p:nvSpPr>
          <p:cNvPr id="4" name="">
            <a:extLst xmlns:a="http://schemas.openxmlformats.org/drawingml/2006/main">
              <a:ext uri="{FF2B5EF4-FFF2-40B4-BE49-F238E27FC236}">
                <a16:creationId xmlns:a16="http://schemas.microsoft.com/office/drawing/2014/main" id="{42A33CF8-B898-4A2A-BF08-4E9554EECD8E}"/>
              </a:ext>
            </a:extLst>
          </p:cNvPr>
          <p:cNvSpPr>
            <a:spLocks xmlns:a="http://schemas.openxmlformats.org/drawingml/2006/main" noGrp="1"/>
          </p:cNvSpPr>
          <p:nvPr/>
        </p:nvSpPr>
        <p:spPr>
          <a:xfrm xmlns:a="http://schemas.openxmlformats.org/drawingml/2006/main">
            <a:off x="609600" y="65151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0">
                <a:solidFill>
                  <a:srgbClr val="5C6B73"/>
                </a:solidFill>
                <a:latin typeface="Arial"/>
                <a:ea typeface="Arial"/>
                <a:cs typeface="Arial"/>
              </a:defRPr>
            </a:pPr>
            <a:r>
              <a:rPr sz="750" b="0">
                <a:solidFill>
                  <a:srgbClr val="5C6B73"/>
                </a:solidFill>
                <a:latin typeface="Arial"/>
                <a:ea typeface="Arial"/>
                <a:cs typeface="Arial"/>
              </a:rPr>
              <a:t>Nguồn: Luật Đấu thầu hợp nhất 22/2023, sửa đổi 57/2024 và 90/2025; NĐ 214/2025; NĐ 349/2026; tài liệu nội bộ Viettel 2026</a:t>
            </a:r>
          </a:p>
        </p:txBody>
      </p:sp>
      <p:sp>
        <p:nvSpPr>
          <p:cNvPr id="5" name="">
            <a:extLst xmlns:a="http://schemas.openxmlformats.org/drawingml/2006/main">
              <a:ext uri="{FF2B5EF4-FFF2-40B4-BE49-F238E27FC236}">
                <a16:creationId xmlns:a16="http://schemas.microsoft.com/office/drawing/2014/main" id="{9742A900-E84E-42ED-9A4E-4207B7F26E75}"/>
              </a:ext>
            </a:extLst>
          </p:cNvPr>
          <p:cNvSpPr>
            <a:spLocks xmlns:a="http://schemas.openxmlformats.org/drawingml/2006/main" noGrp="1"/>
          </p:cNvSpPr>
          <p:nvPr/>
        </p:nvSpPr>
        <p:spPr>
          <a:xfrm xmlns:a="http://schemas.openxmlformats.org/drawingml/2006/main">
            <a:off x="762000" y="1428750"/>
            <a:ext cx="4762500" cy="523875"/>
          </a:xfrm>
          <a:prstGeom xmlns:a="http://schemas.openxmlformats.org/drawingml/2006/main" prst="rect">
            <a:avLst/>
          </a:prstGeom>
          <a:solidFill xmlns:a="http://schemas.openxmlformats.org/drawingml/2006/main">
            <a:srgbClr val="063B5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672AB64-3841-4F61-85CF-B2D5A27E7DFA}"/>
              </a:ext>
            </a:extLst>
          </p:cNvPr>
          <p:cNvSpPr>
            <a:spLocks xmlns:a="http://schemas.openxmlformats.org/drawingml/2006/main" noGrp="1"/>
          </p:cNvSpPr>
          <p:nvPr/>
        </p:nvSpPr>
        <p:spPr>
          <a:xfrm xmlns:a="http://schemas.openxmlformats.org/drawingml/2006/main">
            <a:off x="5715000" y="1428750"/>
            <a:ext cx="5334000" cy="523875"/>
          </a:xfrm>
          <a:prstGeom xmlns:a="http://schemas.openxmlformats.org/drawingml/2006/main" prst="rect">
            <a:avLst/>
          </a:prstGeom>
          <a:solidFill xmlns:a="http://schemas.openxmlformats.org/drawingml/2006/main">
            <a:srgbClr val="0077A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40137E2-EB58-41D0-8A87-9A5398279581}"/>
              </a:ext>
            </a:extLst>
          </p:cNvPr>
          <p:cNvSpPr>
            <a:spLocks xmlns:a="http://schemas.openxmlformats.org/drawingml/2006/main" noGrp="1"/>
          </p:cNvSpPr>
          <p:nvPr/>
        </p:nvSpPr>
        <p:spPr>
          <a:xfrm xmlns:a="http://schemas.openxmlformats.org/drawingml/2006/main">
            <a:off x="952500" y="1524000"/>
            <a:ext cx="438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Luật Đấu thầu</a:t>
            </a:r>
          </a:p>
        </p:txBody>
      </p:sp>
      <p:sp>
        <p:nvSpPr>
          <p:cNvPr id="8" name="">
            <a:extLst xmlns:a="http://schemas.openxmlformats.org/drawingml/2006/main">
              <a:ext uri="{FF2B5EF4-FFF2-40B4-BE49-F238E27FC236}">
                <a16:creationId xmlns:a16="http://schemas.microsoft.com/office/drawing/2014/main" id="{C527E456-D72D-4B95-8888-E51744326B31}"/>
              </a:ext>
            </a:extLst>
          </p:cNvPr>
          <p:cNvSpPr>
            <a:spLocks xmlns:a="http://schemas.openxmlformats.org/drawingml/2006/main" noGrp="1"/>
          </p:cNvSpPr>
          <p:nvPr/>
        </p:nvSpPr>
        <p:spPr>
          <a:xfrm xmlns:a="http://schemas.openxmlformats.org/drawingml/2006/main">
            <a:off x="5905500" y="15240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Quy chế / Quy định Viettel</a:t>
            </a:r>
          </a:p>
        </p:txBody>
      </p:sp>
      <p:sp>
        <p:nvSpPr>
          <p:cNvPr id="9" name="">
            <a:extLst xmlns:a="http://schemas.openxmlformats.org/drawingml/2006/main">
              <a:ext uri="{FF2B5EF4-FFF2-40B4-BE49-F238E27FC236}">
                <a16:creationId xmlns:a16="http://schemas.microsoft.com/office/drawing/2014/main" id="{7A87795C-029E-4B2E-8FF6-A1B0A1060106}"/>
              </a:ext>
            </a:extLst>
          </p:cNvPr>
          <p:cNvSpPr>
            <a:spLocks xmlns:a="http://schemas.openxmlformats.org/drawingml/2006/main" noGrp="1"/>
          </p:cNvSpPr>
          <p:nvPr/>
        </p:nvSpPr>
        <p:spPr>
          <a:xfrm xmlns:a="http://schemas.openxmlformats.org/drawingml/2006/main">
            <a:off x="857250" y="21907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173042"/>
                </a:solidFill>
                <a:latin typeface="Arial"/>
                <a:ea typeface="Arial"/>
                <a:cs typeface="Arial"/>
              </a:defRPr>
            </a:pPr>
            <a:r>
              <a:rPr sz="1350" b="0">
                <a:solidFill>
                  <a:srgbClr val="173042"/>
                </a:solidFill>
                <a:latin typeface="Arial"/>
                <a:ea typeface="Arial"/>
                <a:cs typeface="Arial"/>
              </a:rPr>
              <a:t>Phạm vi: cơ quan, tổ chức, vốn và trường hợp luật định</a:t>
            </a:r>
          </a:p>
        </p:txBody>
      </p:sp>
      <p:sp>
        <p:nvSpPr>
          <p:cNvPr id="10" name="">
            <a:extLst xmlns:a="http://schemas.openxmlformats.org/drawingml/2006/main">
              <a:ext uri="{FF2B5EF4-FFF2-40B4-BE49-F238E27FC236}">
                <a16:creationId xmlns:a16="http://schemas.microsoft.com/office/drawing/2014/main" id="{16E2BD20-3336-4307-8A88-40C86B3DEAEB}"/>
              </a:ext>
            </a:extLst>
          </p:cNvPr>
          <p:cNvSpPr>
            <a:spLocks xmlns:a="http://schemas.openxmlformats.org/drawingml/2006/main" noGrp="1"/>
          </p:cNvSpPr>
          <p:nvPr/>
        </p:nvSpPr>
        <p:spPr>
          <a:xfrm xmlns:a="http://schemas.openxmlformats.org/drawingml/2006/main">
            <a:off x="5810250" y="2190750"/>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173042"/>
                </a:solidFill>
                <a:latin typeface="Arial"/>
                <a:ea typeface="Arial"/>
                <a:cs typeface="Arial"/>
              </a:defRPr>
            </a:pPr>
            <a:r>
              <a:rPr sz="1350" b="0">
                <a:solidFill>
                  <a:srgbClr val="173042"/>
                </a:solidFill>
                <a:latin typeface="Arial"/>
                <a:ea typeface="Arial"/>
                <a:cs typeface="Arial"/>
              </a:rPr>
              <a:t>Phạm vi: công ty, đơn vị và quy trình nội bộ</a:t>
            </a:r>
          </a:p>
        </p:txBody>
      </p:sp>
      <p:sp>
        <p:nvSpPr>
          <p:cNvPr id="11" name="">
            <a:extLst xmlns:a="http://schemas.openxmlformats.org/drawingml/2006/main">
              <a:ext uri="{FF2B5EF4-FFF2-40B4-BE49-F238E27FC236}">
                <a16:creationId xmlns:a16="http://schemas.microsoft.com/office/drawing/2014/main" id="{AD062FC5-9531-4BD1-A7D5-4058B5D130B7}"/>
              </a:ext>
            </a:extLst>
          </p:cNvPr>
          <p:cNvSpPr>
            <a:spLocks xmlns:a="http://schemas.openxmlformats.org/drawingml/2006/main" noGrp="1"/>
          </p:cNvSpPr>
          <p:nvPr/>
        </p:nvSpPr>
        <p:spPr>
          <a:xfrm xmlns:a="http://schemas.openxmlformats.org/drawingml/2006/main">
            <a:off x="762000" y="2876550"/>
            <a:ext cx="10287000" cy="19050"/>
          </a:xfrm>
          <a:prstGeom xmlns:a="http://schemas.openxmlformats.org/drawingml/2006/main" prst="rect">
            <a:avLst/>
          </a:prstGeom>
          <a:solidFill xmlns:a="http://schemas.openxmlformats.org/drawingml/2006/main">
            <a:srgbClr val="D6E7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4A4702E-0AD9-4DE6-9EA5-9D2AE9A9E658}"/>
              </a:ext>
            </a:extLst>
          </p:cNvPr>
          <p:cNvSpPr>
            <a:spLocks xmlns:a="http://schemas.openxmlformats.org/drawingml/2006/main" noGrp="1"/>
          </p:cNvSpPr>
          <p:nvPr/>
        </p:nvSpPr>
        <p:spPr>
          <a:xfrm xmlns:a="http://schemas.openxmlformats.org/drawingml/2006/main">
            <a:off x="857250" y="309562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173042"/>
                </a:solidFill>
                <a:latin typeface="Arial"/>
                <a:ea typeface="Arial"/>
                <a:cs typeface="Arial"/>
              </a:defRPr>
            </a:pPr>
            <a:r>
              <a:rPr sz="1350" b="0">
                <a:solidFill>
                  <a:srgbClr val="173042"/>
                </a:solidFill>
                <a:latin typeface="Arial"/>
                <a:ea typeface="Arial"/>
                <a:cs typeface="Arial"/>
              </a:rPr>
              <a:t>Hệ thống mạng đấu thầu quốc gia theo quy định</a:t>
            </a:r>
          </a:p>
        </p:txBody>
      </p:sp>
      <p:sp>
        <p:nvSpPr>
          <p:cNvPr id="13" name="">
            <a:extLst xmlns:a="http://schemas.openxmlformats.org/drawingml/2006/main">
              <a:ext uri="{FF2B5EF4-FFF2-40B4-BE49-F238E27FC236}">
                <a16:creationId xmlns:a16="http://schemas.microsoft.com/office/drawing/2014/main" id="{921089E6-A592-4964-A128-F91FF60D2DC6}"/>
              </a:ext>
            </a:extLst>
          </p:cNvPr>
          <p:cNvSpPr>
            <a:spLocks xmlns:a="http://schemas.openxmlformats.org/drawingml/2006/main" noGrp="1"/>
          </p:cNvSpPr>
          <p:nvPr/>
        </p:nvSpPr>
        <p:spPr>
          <a:xfrm xmlns:a="http://schemas.openxmlformats.org/drawingml/2006/main">
            <a:off x="5810250" y="3095625"/>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173042"/>
                </a:solidFill>
                <a:latin typeface="Arial"/>
                <a:ea typeface="Arial"/>
                <a:cs typeface="Arial"/>
              </a:defRPr>
            </a:pPr>
            <a:r>
              <a:rPr sz="1350" b="0">
                <a:solidFill>
                  <a:srgbClr val="173042"/>
                </a:solidFill>
                <a:latin typeface="Arial"/>
                <a:ea typeface="Arial"/>
                <a:cs typeface="Arial"/>
              </a:rPr>
              <a:t>Cổng / quy định qua mạng Viettel và phân quyền nội bộ</a:t>
            </a:r>
          </a:p>
        </p:txBody>
      </p:sp>
      <p:sp>
        <p:nvSpPr>
          <p:cNvPr id="14" name="">
            <a:extLst xmlns:a="http://schemas.openxmlformats.org/drawingml/2006/main">
              <a:ext uri="{FF2B5EF4-FFF2-40B4-BE49-F238E27FC236}">
                <a16:creationId xmlns:a16="http://schemas.microsoft.com/office/drawing/2014/main" id="{5BF49570-4926-449B-828D-D029F6C57766}"/>
              </a:ext>
            </a:extLst>
          </p:cNvPr>
          <p:cNvSpPr>
            <a:spLocks xmlns:a="http://schemas.openxmlformats.org/drawingml/2006/main" noGrp="1"/>
          </p:cNvSpPr>
          <p:nvPr/>
        </p:nvSpPr>
        <p:spPr>
          <a:xfrm xmlns:a="http://schemas.openxmlformats.org/drawingml/2006/main">
            <a:off x="762000" y="3781425"/>
            <a:ext cx="10287000" cy="19050"/>
          </a:xfrm>
          <a:prstGeom xmlns:a="http://schemas.openxmlformats.org/drawingml/2006/main" prst="rect">
            <a:avLst/>
          </a:prstGeom>
          <a:solidFill xmlns:a="http://schemas.openxmlformats.org/drawingml/2006/main">
            <a:srgbClr val="D6E7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74EC07D-70AB-43CB-8DAE-77F06F3305C9}"/>
              </a:ext>
            </a:extLst>
          </p:cNvPr>
          <p:cNvSpPr>
            <a:spLocks xmlns:a="http://schemas.openxmlformats.org/drawingml/2006/main" noGrp="1"/>
          </p:cNvSpPr>
          <p:nvPr/>
        </p:nvSpPr>
        <p:spPr>
          <a:xfrm xmlns:a="http://schemas.openxmlformats.org/drawingml/2006/main">
            <a:off x="857250" y="400050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173042"/>
                </a:solidFill>
                <a:latin typeface="Arial"/>
                <a:ea typeface="Arial"/>
                <a:cs typeface="Arial"/>
              </a:defRPr>
            </a:pPr>
            <a:r>
              <a:rPr sz="1350" b="0">
                <a:solidFill>
                  <a:srgbClr val="173042"/>
                </a:solidFill>
                <a:latin typeface="Arial"/>
                <a:ea typeface="Arial"/>
                <a:cs typeface="Arial"/>
              </a:rPr>
              <a:t>Mốc thời gian theo luật và nghị định</a:t>
            </a:r>
          </a:p>
        </p:txBody>
      </p:sp>
      <p:sp>
        <p:nvSpPr>
          <p:cNvPr id="16" name="">
            <a:extLst xmlns:a="http://schemas.openxmlformats.org/drawingml/2006/main">
              <a:ext uri="{FF2B5EF4-FFF2-40B4-BE49-F238E27FC236}">
                <a16:creationId xmlns:a16="http://schemas.microsoft.com/office/drawing/2014/main" id="{08750741-C79B-4482-AFD6-87B2D28BF231}"/>
              </a:ext>
            </a:extLst>
          </p:cNvPr>
          <p:cNvSpPr>
            <a:spLocks xmlns:a="http://schemas.openxmlformats.org/drawingml/2006/main" noGrp="1"/>
          </p:cNvSpPr>
          <p:nvPr/>
        </p:nvSpPr>
        <p:spPr>
          <a:xfrm xmlns:a="http://schemas.openxmlformats.org/drawingml/2006/main">
            <a:off x="5810250" y="4000500"/>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173042"/>
                </a:solidFill>
                <a:latin typeface="Arial"/>
                <a:ea typeface="Arial"/>
                <a:cs typeface="Arial"/>
              </a:defRPr>
            </a:pPr>
            <a:r>
              <a:rPr sz="1350" b="0">
                <a:solidFill>
                  <a:srgbClr val="173042"/>
                </a:solidFill>
                <a:latin typeface="Arial"/>
                <a:ea typeface="Arial"/>
                <a:cs typeface="Arial"/>
              </a:rPr>
              <a:t>Có thể chi tiết hóa luồng phê duyệt, biểu mẫu, đầu mối</a:t>
            </a:r>
          </a:p>
        </p:txBody>
      </p:sp>
      <p:sp>
        <p:nvSpPr>
          <p:cNvPr id="17" name="">
            <a:extLst xmlns:a="http://schemas.openxmlformats.org/drawingml/2006/main">
              <a:ext uri="{FF2B5EF4-FFF2-40B4-BE49-F238E27FC236}">
                <a16:creationId xmlns:a16="http://schemas.microsoft.com/office/drawing/2014/main" id="{6F9956D9-E000-464D-B7EB-22FEFE5DBCA2}"/>
              </a:ext>
            </a:extLst>
          </p:cNvPr>
          <p:cNvSpPr>
            <a:spLocks xmlns:a="http://schemas.openxmlformats.org/drawingml/2006/main" noGrp="1"/>
          </p:cNvSpPr>
          <p:nvPr/>
        </p:nvSpPr>
        <p:spPr>
          <a:xfrm xmlns:a="http://schemas.openxmlformats.org/drawingml/2006/main">
            <a:off x="762000" y="4686300"/>
            <a:ext cx="10287000" cy="19050"/>
          </a:xfrm>
          <a:prstGeom xmlns:a="http://schemas.openxmlformats.org/drawingml/2006/main" prst="rect">
            <a:avLst/>
          </a:prstGeom>
          <a:solidFill xmlns:a="http://schemas.openxmlformats.org/drawingml/2006/main">
            <a:srgbClr val="D6E7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706E8F-B0D5-4536-9016-552D0E40C739}"/>
              </a:ext>
            </a:extLst>
          </p:cNvPr>
          <p:cNvSpPr>
            <a:spLocks xmlns:a="http://schemas.openxmlformats.org/drawingml/2006/main" noGrp="1"/>
          </p:cNvSpPr>
          <p:nvPr/>
        </p:nvSpPr>
        <p:spPr>
          <a:xfrm xmlns:a="http://schemas.openxmlformats.org/drawingml/2006/main">
            <a:off x="857250" y="490537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173042"/>
                </a:solidFill>
                <a:latin typeface="Arial"/>
                <a:ea typeface="Arial"/>
                <a:cs typeface="Arial"/>
              </a:defRPr>
            </a:pPr>
            <a:r>
              <a:rPr sz="1350" b="0">
                <a:solidFill>
                  <a:srgbClr val="173042"/>
                </a:solidFill>
                <a:latin typeface="Arial"/>
                <a:ea typeface="Arial"/>
                <a:cs typeface="Arial"/>
              </a:rPr>
              <a:t>Căn cứ pháp lý bên ngoài</a:t>
            </a:r>
          </a:p>
        </p:txBody>
      </p:sp>
      <p:sp>
        <p:nvSpPr>
          <p:cNvPr id="19" name="">
            <a:extLst xmlns:a="http://schemas.openxmlformats.org/drawingml/2006/main">
              <a:ext uri="{FF2B5EF4-FFF2-40B4-BE49-F238E27FC236}">
                <a16:creationId xmlns:a16="http://schemas.microsoft.com/office/drawing/2014/main" id="{F14300FF-8284-4462-86D8-E2C719FF95C6}"/>
              </a:ext>
            </a:extLst>
          </p:cNvPr>
          <p:cNvSpPr>
            <a:spLocks xmlns:a="http://schemas.openxmlformats.org/drawingml/2006/main" noGrp="1"/>
          </p:cNvSpPr>
          <p:nvPr/>
        </p:nvSpPr>
        <p:spPr>
          <a:xfrm xmlns:a="http://schemas.openxmlformats.org/drawingml/2006/main">
            <a:off x="5810250" y="4905375"/>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350" b="0">
                <a:solidFill>
                  <a:srgbClr val="173042"/>
                </a:solidFill>
                <a:latin typeface="Arial"/>
                <a:ea typeface="Arial"/>
                <a:cs typeface="Arial"/>
              </a:defRPr>
            </a:pPr>
            <a:r>
              <a:rPr sz="1350" b="0">
                <a:solidFill>
                  <a:srgbClr val="173042"/>
                </a:solidFill>
                <a:latin typeface="Arial"/>
                <a:ea typeface="Arial"/>
                <a:cs typeface="Arial"/>
              </a:rPr>
              <a:t>Căn cứ thêm điều lệ, quy chế Tập đoàn, quyết định công ty</a:t>
            </a:r>
          </a:p>
        </p:txBody>
      </p:sp>
      <p:sp>
        <p:nvSpPr>
          <p:cNvPr id="20" name="">
            <a:extLst xmlns:a="http://schemas.openxmlformats.org/drawingml/2006/main">
              <a:ext uri="{FF2B5EF4-FFF2-40B4-BE49-F238E27FC236}">
                <a16:creationId xmlns:a16="http://schemas.microsoft.com/office/drawing/2014/main" id="{B95BD15E-0033-43EC-94F7-0469259DF6B1}"/>
              </a:ext>
            </a:extLst>
          </p:cNvPr>
          <p:cNvSpPr>
            <a:spLocks xmlns:a="http://schemas.openxmlformats.org/drawingml/2006/main" noGrp="1"/>
          </p:cNvSpPr>
          <p:nvPr/>
        </p:nvSpPr>
        <p:spPr>
          <a:xfrm xmlns:a="http://schemas.openxmlformats.org/drawingml/2006/main">
            <a:off x="762000" y="5591175"/>
            <a:ext cx="10287000" cy="19050"/>
          </a:xfrm>
          <a:prstGeom xmlns:a="http://schemas.openxmlformats.org/drawingml/2006/main" prst="rect">
            <a:avLst/>
          </a:prstGeom>
          <a:solidFill xmlns:a="http://schemas.openxmlformats.org/drawingml/2006/main">
            <a:srgbClr val="D6E7EC"/>
          </a:solidFill>
          <a:ln xmlns:a="http://schemas.openxmlformats.org/drawingml/2006/main" w="0">
            <a:noFill/>
          </a:ln>
        </p:spPr>
      </p:sp>
    </p:spTree>
    <p:extLst>
      <p:ext uri="{BB962C8B-B14F-4D97-AF65-F5344CB8AC3E}">
        <p14:creationId xmlns:p14="http://schemas.microsoft.com/office/powerpoint/2010/main" val="12496219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E31650F-9BF7-4EDC-BDDE-407693D4CDA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D0FF24-37CD-4A9D-8170-5E5B931F08F9}"/>
              </a:ext>
            </a:extLst>
          </p:cNvPr>
          <p:cNvSpPr>
            <a:spLocks xmlns:a="http://schemas.openxmlformats.org/drawingml/2006/main" noGrp="1"/>
          </p:cNvSpPr>
          <p:nvPr/>
        </p:nvSpPr>
        <p:spPr>
          <a:xfrm xmlns:a="http://schemas.openxmlformats.org/drawingml/2006/main">
            <a:off x="609600" y="285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0077A8"/>
                </a:solidFill>
                <a:latin typeface="Arial"/>
                <a:ea typeface="Arial"/>
                <a:cs typeface="Arial"/>
              </a:defRPr>
            </a:pPr>
            <a:r>
              <a:rPr sz="975" b="1">
                <a:solidFill>
                  <a:srgbClr val="0077A8"/>
                </a:solidFill>
                <a:latin typeface="Arial"/>
                <a:ea typeface="Arial"/>
                <a:cs typeface="Arial"/>
              </a:rPr>
              <a:t>LUẬT ĐẤU THẦU | 60 PHÚT</a:t>
            </a:r>
          </a:p>
        </p:txBody>
      </p:sp>
      <p:sp>
        <p:nvSpPr>
          <p:cNvPr id="3" name="">
            <a:extLst xmlns:a="http://schemas.openxmlformats.org/drawingml/2006/main">
              <a:ext uri="{FF2B5EF4-FFF2-40B4-BE49-F238E27FC236}">
                <a16:creationId xmlns:a16="http://schemas.microsoft.com/office/drawing/2014/main" id="{F59B4C5F-E450-4238-AC81-1CBF3EEF0A90}"/>
              </a:ext>
            </a:extLst>
          </p:cNvPr>
          <p:cNvSpPr>
            <a:spLocks xmlns:a="http://schemas.openxmlformats.org/drawingml/2006/main" noGrp="1"/>
          </p:cNvSpPr>
          <p:nvPr/>
        </p:nvSpPr>
        <p:spPr>
          <a:xfrm xmlns:a="http://schemas.openxmlformats.org/drawingml/2006/main">
            <a:off x="609600" y="590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063B5C"/>
                </a:solidFill>
                <a:latin typeface="Arial"/>
                <a:ea typeface="Arial"/>
                <a:cs typeface="Arial"/>
              </a:defRPr>
            </a:pPr>
            <a:r>
              <a:rPr sz="2550" b="1">
                <a:solidFill>
                  <a:srgbClr val="063B5C"/>
                </a:solidFill>
                <a:latin typeface="Arial"/>
                <a:ea typeface="Arial"/>
                <a:cs typeface="Arial"/>
              </a:rPr>
              <a:t>Các mốc thời gian cần nhớ</a:t>
            </a:r>
          </a:p>
        </p:txBody>
      </p:sp>
      <p:sp>
        <p:nvSpPr>
          <p:cNvPr id="4" name="">
            <a:extLst xmlns:a="http://schemas.openxmlformats.org/drawingml/2006/main">
              <a:ext uri="{FF2B5EF4-FFF2-40B4-BE49-F238E27FC236}">
                <a16:creationId xmlns:a16="http://schemas.microsoft.com/office/drawing/2014/main" id="{6CD896C4-1ABB-4F92-B9A8-F7B91354D27E}"/>
              </a:ext>
            </a:extLst>
          </p:cNvPr>
          <p:cNvSpPr>
            <a:spLocks xmlns:a="http://schemas.openxmlformats.org/drawingml/2006/main" noGrp="1"/>
          </p:cNvSpPr>
          <p:nvPr/>
        </p:nvSpPr>
        <p:spPr>
          <a:xfrm xmlns:a="http://schemas.openxmlformats.org/drawingml/2006/main">
            <a:off x="609600" y="65151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0">
                <a:solidFill>
                  <a:srgbClr val="5C6B73"/>
                </a:solidFill>
                <a:latin typeface="Arial"/>
                <a:ea typeface="Arial"/>
                <a:cs typeface="Arial"/>
              </a:defRPr>
            </a:pPr>
            <a:r>
              <a:rPr sz="750" b="0">
                <a:solidFill>
                  <a:srgbClr val="5C6B73"/>
                </a:solidFill>
                <a:latin typeface="Arial"/>
                <a:ea typeface="Arial"/>
                <a:cs typeface="Arial"/>
              </a:rPr>
              <a:t>Nguồn: Luật Đấu thầu hợp nhất 22/2023, sửa đổi 57/2024 và 90/2025; NĐ 214/2025; NĐ 349/2026; tài liệu nội bộ Viettel 2026</a:t>
            </a:r>
          </a:p>
        </p:txBody>
      </p:sp>
      <p:sp>
        <p:nvSpPr>
          <p:cNvPr id="5" name="">
            <a:extLst xmlns:a="http://schemas.openxmlformats.org/drawingml/2006/main">
              <a:ext uri="{FF2B5EF4-FFF2-40B4-BE49-F238E27FC236}">
                <a16:creationId xmlns:a16="http://schemas.microsoft.com/office/drawing/2014/main" id="{D641CA6A-3439-4C93-B1B3-68E1D0FD209E}"/>
              </a:ext>
            </a:extLst>
          </p:cNvPr>
          <p:cNvSpPr>
            <a:spLocks xmlns:a="http://schemas.openxmlformats.org/drawingml/2006/main" noGrp="1"/>
          </p:cNvSpPr>
          <p:nvPr/>
        </p:nvSpPr>
        <p:spPr>
          <a:xfrm xmlns:a="http://schemas.openxmlformats.org/drawingml/2006/main">
            <a:off x="714375" y="2333625"/>
            <a:ext cx="1524000" cy="171450"/>
          </a:xfrm>
          <a:prstGeom xmlns:a="http://schemas.openxmlformats.org/drawingml/2006/main" prst="roundRect">
            <a:avLst>
              <a:gd name="adj" fmla="val 44444"/>
            </a:avLst>
          </a:prstGeom>
          <a:solidFill xmlns:a="http://schemas.openxmlformats.org/drawingml/2006/main">
            <a:srgbClr val="00A7C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C84EBAC-F01E-414B-9153-0E84E3DB1DA0}"/>
              </a:ext>
            </a:extLst>
          </p:cNvPr>
          <p:cNvSpPr>
            <a:spLocks xmlns:a="http://schemas.openxmlformats.org/drawingml/2006/main" noGrp="1"/>
          </p:cNvSpPr>
          <p:nvPr/>
        </p:nvSpPr>
        <p:spPr>
          <a:xfrm xmlns:a="http://schemas.openxmlformats.org/drawingml/2006/main">
            <a:off x="619125" y="19526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b="1">
                <a:solidFill>
                  <a:srgbClr val="063B5C"/>
                </a:solidFill>
                <a:latin typeface="Arial"/>
                <a:ea typeface="Arial"/>
                <a:cs typeface="Arial"/>
              </a:defRPr>
            </a:pPr>
            <a:r>
              <a:rPr sz="1425" b="1">
                <a:solidFill>
                  <a:srgbClr val="063B5C"/>
                </a:solidFill>
                <a:latin typeface="Arial"/>
                <a:ea typeface="Arial"/>
                <a:cs typeface="Arial"/>
              </a:rPr>
              <a:t>Kế hoạch</a:t>
            </a:r>
          </a:p>
        </p:txBody>
      </p:sp>
      <p:sp>
        <p:nvSpPr>
          <p:cNvPr id="7" name="">
            <a:extLst xmlns:a="http://schemas.openxmlformats.org/drawingml/2006/main">
              <a:ext uri="{FF2B5EF4-FFF2-40B4-BE49-F238E27FC236}">
                <a16:creationId xmlns:a16="http://schemas.microsoft.com/office/drawing/2014/main" id="{57217790-34E7-43AF-AE8A-D9EC1CAD5A23}"/>
              </a:ext>
            </a:extLst>
          </p:cNvPr>
          <p:cNvSpPr>
            <a:spLocks xmlns:a="http://schemas.openxmlformats.org/drawingml/2006/main" noGrp="1"/>
          </p:cNvSpPr>
          <p:nvPr/>
        </p:nvSpPr>
        <p:spPr>
          <a:xfrm xmlns:a="http://schemas.openxmlformats.org/drawingml/2006/main">
            <a:off x="523875" y="2762250"/>
            <a:ext cx="1905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173042"/>
                </a:solidFill>
                <a:latin typeface="Arial"/>
                <a:ea typeface="Arial"/>
                <a:cs typeface="Arial"/>
              </a:defRPr>
            </a:pPr>
            <a:r>
              <a:rPr sz="1275" b="0">
                <a:solidFill>
                  <a:srgbClr val="173042"/>
                </a:solidFill>
                <a:latin typeface="Arial"/>
                <a:ea typeface="Arial"/>
                <a:cs typeface="Arial"/>
              </a:rPr>
              <a:t>Đăng tải KHLCNT và thông tin liên quan đúng thời điểm</a:t>
            </a:r>
          </a:p>
        </p:txBody>
      </p:sp>
      <p:sp>
        <p:nvSpPr>
          <p:cNvPr id="8" name="">
            <a:extLst xmlns:a="http://schemas.openxmlformats.org/drawingml/2006/main">
              <a:ext uri="{FF2B5EF4-FFF2-40B4-BE49-F238E27FC236}">
                <a16:creationId xmlns:a16="http://schemas.microsoft.com/office/drawing/2014/main" id="{AE16BB6E-5DC5-4530-BFFE-23B69F2F0D3D}"/>
              </a:ext>
            </a:extLst>
          </p:cNvPr>
          <p:cNvSpPr>
            <a:spLocks xmlns:a="http://schemas.openxmlformats.org/drawingml/2006/main" noGrp="1"/>
          </p:cNvSpPr>
          <p:nvPr/>
        </p:nvSpPr>
        <p:spPr>
          <a:xfrm xmlns:a="http://schemas.openxmlformats.org/drawingml/2006/main">
            <a:off x="2238375" y="2381250"/>
            <a:ext cx="619125" cy="76200"/>
          </a:xfrm>
          <a:prstGeom xmlns:a="http://schemas.openxmlformats.org/drawingml/2006/main" prst="rect">
            <a:avLst/>
          </a:prstGeom>
          <a:solidFill xmlns:a="http://schemas.openxmlformats.org/drawingml/2006/main">
            <a:srgbClr val="B8DDE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C5E004E-CB76-4435-A257-7D5DD67E320E}"/>
              </a:ext>
            </a:extLst>
          </p:cNvPr>
          <p:cNvSpPr>
            <a:spLocks xmlns:a="http://schemas.openxmlformats.org/drawingml/2006/main" noGrp="1"/>
          </p:cNvSpPr>
          <p:nvPr/>
        </p:nvSpPr>
        <p:spPr>
          <a:xfrm xmlns:a="http://schemas.openxmlformats.org/drawingml/2006/main">
            <a:off x="2857500" y="2333625"/>
            <a:ext cx="1524000" cy="171450"/>
          </a:xfrm>
          <a:prstGeom xmlns:a="http://schemas.openxmlformats.org/drawingml/2006/main" prst="roundRect">
            <a:avLst>
              <a:gd name="adj" fmla="val 44444"/>
            </a:avLst>
          </a:prstGeom>
          <a:solidFill xmlns:a="http://schemas.openxmlformats.org/drawingml/2006/main">
            <a:srgbClr val="00A7C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06BA120-2865-43E5-A54A-D4CB9DB9E172}"/>
              </a:ext>
            </a:extLst>
          </p:cNvPr>
          <p:cNvSpPr>
            <a:spLocks xmlns:a="http://schemas.openxmlformats.org/drawingml/2006/main" noGrp="1"/>
          </p:cNvSpPr>
          <p:nvPr/>
        </p:nvSpPr>
        <p:spPr>
          <a:xfrm xmlns:a="http://schemas.openxmlformats.org/drawingml/2006/main">
            <a:off x="2762250" y="19526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b="1">
                <a:solidFill>
                  <a:srgbClr val="063B5C"/>
                </a:solidFill>
                <a:latin typeface="Arial"/>
                <a:ea typeface="Arial"/>
                <a:cs typeface="Arial"/>
              </a:defRPr>
            </a:pPr>
            <a:r>
              <a:rPr sz="1425" b="1">
                <a:solidFill>
                  <a:srgbClr val="063B5C"/>
                </a:solidFill>
                <a:latin typeface="Arial"/>
                <a:ea typeface="Arial"/>
                <a:cs typeface="Arial"/>
              </a:rPr>
              <a:t>Chuẩn bị HSMT</a:t>
            </a:r>
          </a:p>
        </p:txBody>
      </p:sp>
      <p:sp>
        <p:nvSpPr>
          <p:cNvPr id="11" name="">
            <a:extLst xmlns:a="http://schemas.openxmlformats.org/drawingml/2006/main">
              <a:ext uri="{FF2B5EF4-FFF2-40B4-BE49-F238E27FC236}">
                <a16:creationId xmlns:a16="http://schemas.microsoft.com/office/drawing/2014/main" id="{45813EDB-96EA-4C4F-8CC3-A24D7D141F08}"/>
              </a:ext>
            </a:extLst>
          </p:cNvPr>
          <p:cNvSpPr>
            <a:spLocks xmlns:a="http://schemas.openxmlformats.org/drawingml/2006/main" noGrp="1"/>
          </p:cNvSpPr>
          <p:nvPr/>
        </p:nvSpPr>
        <p:spPr>
          <a:xfrm xmlns:a="http://schemas.openxmlformats.org/drawingml/2006/main">
            <a:off x="2667000" y="2762250"/>
            <a:ext cx="1905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173042"/>
                </a:solidFill>
                <a:latin typeface="Arial"/>
                <a:ea typeface="Arial"/>
                <a:cs typeface="Arial"/>
              </a:defRPr>
            </a:pPr>
            <a:r>
              <a:rPr sz="1275" b="0">
                <a:solidFill>
                  <a:srgbClr val="173042"/>
                </a:solidFill>
                <a:latin typeface="Arial"/>
                <a:ea typeface="Arial"/>
                <a:cs typeface="Arial"/>
              </a:rPr>
              <a:t>Dành đủ thời gian làm rõ, sửa đổi và phát hành</a:t>
            </a:r>
          </a:p>
        </p:txBody>
      </p:sp>
      <p:sp>
        <p:nvSpPr>
          <p:cNvPr id="12" name="">
            <a:extLst xmlns:a="http://schemas.openxmlformats.org/drawingml/2006/main">
              <a:ext uri="{FF2B5EF4-FFF2-40B4-BE49-F238E27FC236}">
                <a16:creationId xmlns:a16="http://schemas.microsoft.com/office/drawing/2014/main" id="{8C0A8462-87E4-4441-A2D8-56DE4E22ED27}"/>
              </a:ext>
            </a:extLst>
          </p:cNvPr>
          <p:cNvSpPr>
            <a:spLocks xmlns:a="http://schemas.openxmlformats.org/drawingml/2006/main" noGrp="1"/>
          </p:cNvSpPr>
          <p:nvPr/>
        </p:nvSpPr>
        <p:spPr>
          <a:xfrm xmlns:a="http://schemas.openxmlformats.org/drawingml/2006/main">
            <a:off x="4381500" y="2381250"/>
            <a:ext cx="619125" cy="76200"/>
          </a:xfrm>
          <a:prstGeom xmlns:a="http://schemas.openxmlformats.org/drawingml/2006/main" prst="rect">
            <a:avLst/>
          </a:prstGeom>
          <a:solidFill xmlns:a="http://schemas.openxmlformats.org/drawingml/2006/main">
            <a:srgbClr val="B8DDE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F375C1B-CAA4-4125-9868-1028A81003C5}"/>
              </a:ext>
            </a:extLst>
          </p:cNvPr>
          <p:cNvSpPr>
            <a:spLocks xmlns:a="http://schemas.openxmlformats.org/drawingml/2006/main" noGrp="1"/>
          </p:cNvSpPr>
          <p:nvPr/>
        </p:nvSpPr>
        <p:spPr>
          <a:xfrm xmlns:a="http://schemas.openxmlformats.org/drawingml/2006/main">
            <a:off x="5000625" y="2333625"/>
            <a:ext cx="1524000" cy="171450"/>
          </a:xfrm>
          <a:prstGeom xmlns:a="http://schemas.openxmlformats.org/drawingml/2006/main" prst="roundRect">
            <a:avLst>
              <a:gd name="adj" fmla="val 44444"/>
            </a:avLst>
          </a:prstGeom>
          <a:solidFill xmlns:a="http://schemas.openxmlformats.org/drawingml/2006/main">
            <a:srgbClr val="F4B94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444F516-20A0-4858-A539-96CE1F9ADF6E}"/>
              </a:ext>
            </a:extLst>
          </p:cNvPr>
          <p:cNvSpPr>
            <a:spLocks xmlns:a="http://schemas.openxmlformats.org/drawingml/2006/main" noGrp="1"/>
          </p:cNvSpPr>
          <p:nvPr/>
        </p:nvSpPr>
        <p:spPr>
          <a:xfrm xmlns:a="http://schemas.openxmlformats.org/drawingml/2006/main">
            <a:off x="4905375" y="19526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b="1">
                <a:solidFill>
                  <a:srgbClr val="063B5C"/>
                </a:solidFill>
                <a:latin typeface="Arial"/>
                <a:ea typeface="Arial"/>
                <a:cs typeface="Arial"/>
              </a:defRPr>
            </a:pPr>
            <a:r>
              <a:rPr sz="1425" b="1">
                <a:solidFill>
                  <a:srgbClr val="063B5C"/>
                </a:solidFill>
                <a:latin typeface="Arial"/>
                <a:ea typeface="Arial"/>
                <a:cs typeface="Arial"/>
              </a:rPr>
              <a:t>Dự thầu</a:t>
            </a:r>
          </a:p>
        </p:txBody>
      </p:sp>
      <p:sp>
        <p:nvSpPr>
          <p:cNvPr id="15" name="">
            <a:extLst xmlns:a="http://schemas.openxmlformats.org/drawingml/2006/main">
              <a:ext uri="{FF2B5EF4-FFF2-40B4-BE49-F238E27FC236}">
                <a16:creationId xmlns:a16="http://schemas.microsoft.com/office/drawing/2014/main" id="{C4DAD202-E27F-42D8-9899-DD250E2CDEC0}"/>
              </a:ext>
            </a:extLst>
          </p:cNvPr>
          <p:cNvSpPr>
            <a:spLocks xmlns:a="http://schemas.openxmlformats.org/drawingml/2006/main" noGrp="1"/>
          </p:cNvSpPr>
          <p:nvPr/>
        </p:nvSpPr>
        <p:spPr>
          <a:xfrm xmlns:a="http://schemas.openxmlformats.org/drawingml/2006/main">
            <a:off x="4810125" y="2762250"/>
            <a:ext cx="1905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173042"/>
                </a:solidFill>
                <a:latin typeface="Arial"/>
                <a:ea typeface="Arial"/>
                <a:cs typeface="Arial"/>
              </a:defRPr>
            </a:pPr>
            <a:r>
              <a:rPr sz="1275" b="0">
                <a:solidFill>
                  <a:srgbClr val="173042"/>
                </a:solidFill>
                <a:latin typeface="Arial"/>
                <a:ea typeface="Arial"/>
                <a:cs typeface="Arial"/>
              </a:rPr>
              <a:t>Theo đúng thời điểm đóng thầu trên hệ thống</a:t>
            </a:r>
          </a:p>
        </p:txBody>
      </p:sp>
      <p:sp>
        <p:nvSpPr>
          <p:cNvPr id="16" name="">
            <a:extLst xmlns:a="http://schemas.openxmlformats.org/drawingml/2006/main">
              <a:ext uri="{FF2B5EF4-FFF2-40B4-BE49-F238E27FC236}">
                <a16:creationId xmlns:a16="http://schemas.microsoft.com/office/drawing/2014/main" id="{C9F4CB3A-CD0F-4CEC-A29F-17ADE135A6CC}"/>
              </a:ext>
            </a:extLst>
          </p:cNvPr>
          <p:cNvSpPr>
            <a:spLocks xmlns:a="http://schemas.openxmlformats.org/drawingml/2006/main" noGrp="1"/>
          </p:cNvSpPr>
          <p:nvPr/>
        </p:nvSpPr>
        <p:spPr>
          <a:xfrm xmlns:a="http://schemas.openxmlformats.org/drawingml/2006/main">
            <a:off x="6524625" y="2381250"/>
            <a:ext cx="619125" cy="76200"/>
          </a:xfrm>
          <a:prstGeom xmlns:a="http://schemas.openxmlformats.org/drawingml/2006/main" prst="rect">
            <a:avLst/>
          </a:prstGeom>
          <a:solidFill xmlns:a="http://schemas.openxmlformats.org/drawingml/2006/main">
            <a:srgbClr val="B8DDE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7B484BD-6856-4CC5-8681-190AABEAEF49}"/>
              </a:ext>
            </a:extLst>
          </p:cNvPr>
          <p:cNvSpPr>
            <a:spLocks xmlns:a="http://schemas.openxmlformats.org/drawingml/2006/main" noGrp="1"/>
          </p:cNvSpPr>
          <p:nvPr/>
        </p:nvSpPr>
        <p:spPr>
          <a:xfrm xmlns:a="http://schemas.openxmlformats.org/drawingml/2006/main">
            <a:off x="7143750" y="2333625"/>
            <a:ext cx="1524000" cy="171450"/>
          </a:xfrm>
          <a:prstGeom xmlns:a="http://schemas.openxmlformats.org/drawingml/2006/main" prst="roundRect">
            <a:avLst>
              <a:gd name="adj" fmla="val 44444"/>
            </a:avLst>
          </a:prstGeom>
          <a:solidFill xmlns:a="http://schemas.openxmlformats.org/drawingml/2006/main">
            <a:srgbClr val="00A7C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CA5A993-6DAA-48E5-A48B-028803AC8BF9}"/>
              </a:ext>
            </a:extLst>
          </p:cNvPr>
          <p:cNvSpPr>
            <a:spLocks xmlns:a="http://schemas.openxmlformats.org/drawingml/2006/main" noGrp="1"/>
          </p:cNvSpPr>
          <p:nvPr/>
        </p:nvSpPr>
        <p:spPr>
          <a:xfrm xmlns:a="http://schemas.openxmlformats.org/drawingml/2006/main">
            <a:off x="7048500" y="19526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b="1">
                <a:solidFill>
                  <a:srgbClr val="063B5C"/>
                </a:solidFill>
                <a:latin typeface="Arial"/>
                <a:ea typeface="Arial"/>
                <a:cs typeface="Arial"/>
              </a:defRPr>
            </a:pPr>
            <a:r>
              <a:rPr sz="1425" b="1">
                <a:solidFill>
                  <a:srgbClr val="063B5C"/>
                </a:solidFill>
                <a:latin typeface="Arial"/>
                <a:ea typeface="Arial"/>
                <a:cs typeface="Arial"/>
              </a:rPr>
              <a:t>Đánh giá</a:t>
            </a:r>
          </a:p>
        </p:txBody>
      </p:sp>
      <p:sp>
        <p:nvSpPr>
          <p:cNvPr id="19" name="">
            <a:extLst xmlns:a="http://schemas.openxmlformats.org/drawingml/2006/main">
              <a:ext uri="{FF2B5EF4-FFF2-40B4-BE49-F238E27FC236}">
                <a16:creationId xmlns:a16="http://schemas.microsoft.com/office/drawing/2014/main" id="{8C11A707-57F1-4C55-B9C5-3C5A72DE8B6D}"/>
              </a:ext>
            </a:extLst>
          </p:cNvPr>
          <p:cNvSpPr>
            <a:spLocks xmlns:a="http://schemas.openxmlformats.org/drawingml/2006/main" noGrp="1"/>
          </p:cNvSpPr>
          <p:nvPr/>
        </p:nvSpPr>
        <p:spPr>
          <a:xfrm xmlns:a="http://schemas.openxmlformats.org/drawingml/2006/main">
            <a:off x="6953250" y="2762250"/>
            <a:ext cx="1905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173042"/>
                </a:solidFill>
                <a:latin typeface="Arial"/>
                <a:ea typeface="Arial"/>
                <a:cs typeface="Arial"/>
              </a:defRPr>
            </a:pPr>
            <a:r>
              <a:rPr sz="1275" b="0">
                <a:solidFill>
                  <a:srgbClr val="173042"/>
                </a:solidFill>
                <a:latin typeface="Arial"/>
                <a:ea typeface="Arial"/>
                <a:cs typeface="Arial"/>
              </a:rPr>
              <a:t>Tuân thủ thời hạn theo phương thức và quy mô gói thầu</a:t>
            </a:r>
          </a:p>
        </p:txBody>
      </p:sp>
      <p:sp>
        <p:nvSpPr>
          <p:cNvPr id="20" name="">
            <a:extLst xmlns:a="http://schemas.openxmlformats.org/drawingml/2006/main">
              <a:ext uri="{FF2B5EF4-FFF2-40B4-BE49-F238E27FC236}">
                <a16:creationId xmlns:a16="http://schemas.microsoft.com/office/drawing/2014/main" id="{CFCFF4DE-AE70-413C-A8C0-2009EFD29BC0}"/>
              </a:ext>
            </a:extLst>
          </p:cNvPr>
          <p:cNvSpPr>
            <a:spLocks xmlns:a="http://schemas.openxmlformats.org/drawingml/2006/main" noGrp="1"/>
          </p:cNvSpPr>
          <p:nvPr/>
        </p:nvSpPr>
        <p:spPr>
          <a:xfrm xmlns:a="http://schemas.openxmlformats.org/drawingml/2006/main">
            <a:off x="8667750" y="2381250"/>
            <a:ext cx="619125" cy="76200"/>
          </a:xfrm>
          <a:prstGeom xmlns:a="http://schemas.openxmlformats.org/drawingml/2006/main" prst="rect">
            <a:avLst/>
          </a:prstGeom>
          <a:solidFill xmlns:a="http://schemas.openxmlformats.org/drawingml/2006/main">
            <a:srgbClr val="B8DDE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653B43C-0B08-4C4A-9387-42EE808EFD35}"/>
              </a:ext>
            </a:extLst>
          </p:cNvPr>
          <p:cNvSpPr>
            <a:spLocks xmlns:a="http://schemas.openxmlformats.org/drawingml/2006/main" noGrp="1"/>
          </p:cNvSpPr>
          <p:nvPr/>
        </p:nvSpPr>
        <p:spPr>
          <a:xfrm xmlns:a="http://schemas.openxmlformats.org/drawingml/2006/main">
            <a:off x="9286875" y="2333625"/>
            <a:ext cx="1524000" cy="171450"/>
          </a:xfrm>
          <a:prstGeom xmlns:a="http://schemas.openxmlformats.org/drawingml/2006/main" prst="roundRect">
            <a:avLst>
              <a:gd name="adj" fmla="val 44444"/>
            </a:avLst>
          </a:prstGeom>
          <a:solidFill xmlns:a="http://schemas.openxmlformats.org/drawingml/2006/main">
            <a:srgbClr val="00A7C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725EDF0-8814-4A33-A67C-0D9DA4123377}"/>
              </a:ext>
            </a:extLst>
          </p:cNvPr>
          <p:cNvSpPr>
            <a:spLocks xmlns:a="http://schemas.openxmlformats.org/drawingml/2006/main" noGrp="1"/>
          </p:cNvSpPr>
          <p:nvPr/>
        </p:nvSpPr>
        <p:spPr>
          <a:xfrm xmlns:a="http://schemas.openxmlformats.org/drawingml/2006/main">
            <a:off x="9191625" y="19526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b="1">
                <a:solidFill>
                  <a:srgbClr val="063B5C"/>
                </a:solidFill>
                <a:latin typeface="Arial"/>
                <a:ea typeface="Arial"/>
                <a:cs typeface="Arial"/>
              </a:defRPr>
            </a:pPr>
            <a:r>
              <a:rPr sz="1425" b="1">
                <a:solidFill>
                  <a:srgbClr val="063B5C"/>
                </a:solidFill>
                <a:latin typeface="Arial"/>
                <a:ea typeface="Arial"/>
                <a:cs typeface="Arial"/>
              </a:rPr>
              <a:t>Hợp đồng</a:t>
            </a:r>
          </a:p>
        </p:txBody>
      </p:sp>
      <p:sp>
        <p:nvSpPr>
          <p:cNvPr id="23" name="">
            <a:extLst xmlns:a="http://schemas.openxmlformats.org/drawingml/2006/main">
              <a:ext uri="{FF2B5EF4-FFF2-40B4-BE49-F238E27FC236}">
                <a16:creationId xmlns:a16="http://schemas.microsoft.com/office/drawing/2014/main" id="{BD7EDD50-1E6E-4596-B1A5-52462198257A}"/>
              </a:ext>
            </a:extLst>
          </p:cNvPr>
          <p:cNvSpPr>
            <a:spLocks xmlns:a="http://schemas.openxmlformats.org/drawingml/2006/main" noGrp="1"/>
          </p:cNvSpPr>
          <p:nvPr/>
        </p:nvSpPr>
        <p:spPr>
          <a:xfrm xmlns:a="http://schemas.openxmlformats.org/drawingml/2006/main">
            <a:off x="9096375" y="2762250"/>
            <a:ext cx="1905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173042"/>
                </a:solidFill>
                <a:latin typeface="Arial"/>
                <a:ea typeface="Arial"/>
                <a:cs typeface="Arial"/>
              </a:defRPr>
            </a:pPr>
            <a:r>
              <a:rPr sz="1275" b="0">
                <a:solidFill>
                  <a:srgbClr val="173042"/>
                </a:solidFill>
                <a:latin typeface="Arial"/>
                <a:ea typeface="Arial"/>
                <a:cs typeface="Arial"/>
              </a:rPr>
              <a:t>Cập nhật tiến độ, thay đổi nhà thầu phụ trên hệ thống</a:t>
            </a:r>
          </a:p>
        </p:txBody>
      </p:sp>
      <p:sp>
        <p:nvSpPr>
          <p:cNvPr id="24" name="">
            <a:extLst xmlns:a="http://schemas.openxmlformats.org/drawingml/2006/main">
              <a:ext uri="{FF2B5EF4-FFF2-40B4-BE49-F238E27FC236}">
                <a16:creationId xmlns:a16="http://schemas.microsoft.com/office/drawing/2014/main" id="{15BD8EF9-2273-41D7-B9E0-2BC34673B523}"/>
              </a:ext>
            </a:extLst>
          </p:cNvPr>
          <p:cNvSpPr>
            <a:spLocks xmlns:a="http://schemas.openxmlformats.org/drawingml/2006/main" noGrp="1"/>
          </p:cNvSpPr>
          <p:nvPr/>
        </p:nvSpPr>
        <p:spPr>
          <a:xfrm xmlns:a="http://schemas.openxmlformats.org/drawingml/2006/main">
            <a:off x="809625" y="47625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1">
                <a:solidFill>
                  <a:srgbClr val="063B5C"/>
                </a:solidFill>
                <a:latin typeface="Arial"/>
                <a:ea typeface="Arial"/>
                <a:cs typeface="Arial"/>
              </a:defRPr>
            </a:pPr>
            <a:r>
              <a:rPr sz="1725" b="1">
                <a:solidFill>
                  <a:srgbClr val="063B5C"/>
                </a:solidFill>
                <a:latin typeface="Arial"/>
                <a:ea typeface="Arial"/>
                <a:cs typeface="Arial"/>
              </a:rPr>
              <a:t>Nguyên tắc thực hành: lấy thời điểm trên thông báo / hệ thống làm mốc kiểm soát, không dùng trí nhớ.</a:t>
            </a:r>
          </a:p>
        </p:txBody>
      </p:sp>
    </p:spTree>
    <p:extLst>
      <p:ext uri="{BB962C8B-B14F-4D97-AF65-F5344CB8AC3E}">
        <p14:creationId xmlns:p14="http://schemas.microsoft.com/office/powerpoint/2010/main" val="17758273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AB87FD2-05F1-43BA-976A-2F37803D0E6B}"/>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2178B7-3AD7-447E-BC02-1FB109CE4623}"/>
              </a:ext>
            </a:extLst>
          </p:cNvPr>
          <p:cNvSpPr>
            <a:spLocks xmlns:a="http://schemas.openxmlformats.org/drawingml/2006/main" noGrp="1"/>
          </p:cNvSpPr>
          <p:nvPr/>
        </p:nvSpPr>
        <p:spPr>
          <a:xfrm xmlns:a="http://schemas.openxmlformats.org/drawingml/2006/main">
            <a:off x="609600" y="285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0077A8"/>
                </a:solidFill>
                <a:latin typeface="Arial"/>
                <a:ea typeface="Arial"/>
                <a:cs typeface="Arial"/>
              </a:defRPr>
            </a:pPr>
            <a:r>
              <a:rPr sz="975" b="1">
                <a:solidFill>
                  <a:srgbClr val="0077A8"/>
                </a:solidFill>
                <a:latin typeface="Arial"/>
                <a:ea typeface="Arial"/>
                <a:cs typeface="Arial"/>
              </a:rPr>
              <a:t>LUẬT ĐẤU THẦU | 60 PHÚT</a:t>
            </a:r>
          </a:p>
        </p:txBody>
      </p:sp>
      <p:sp>
        <p:nvSpPr>
          <p:cNvPr id="3" name="">
            <a:extLst xmlns:a="http://schemas.openxmlformats.org/drawingml/2006/main">
              <a:ext uri="{FF2B5EF4-FFF2-40B4-BE49-F238E27FC236}">
                <a16:creationId xmlns:a16="http://schemas.microsoft.com/office/drawing/2014/main" id="{064D385F-12AF-4D80-8324-C73A3F06170C}"/>
              </a:ext>
            </a:extLst>
          </p:cNvPr>
          <p:cNvSpPr>
            <a:spLocks xmlns:a="http://schemas.openxmlformats.org/drawingml/2006/main" noGrp="1"/>
          </p:cNvSpPr>
          <p:nvPr/>
        </p:nvSpPr>
        <p:spPr>
          <a:xfrm xmlns:a="http://schemas.openxmlformats.org/drawingml/2006/main">
            <a:off x="609600" y="590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063B5C"/>
                </a:solidFill>
                <a:latin typeface="Arial"/>
                <a:ea typeface="Arial"/>
                <a:cs typeface="Arial"/>
              </a:defRPr>
            </a:pPr>
            <a:r>
              <a:rPr sz="2550" b="1">
                <a:solidFill>
                  <a:srgbClr val="063B5C"/>
                </a:solidFill>
                <a:latin typeface="Arial"/>
                <a:ea typeface="Arial"/>
                <a:cs typeface="Arial"/>
              </a:rPr>
              <a:t>Bộ HSMT điển hình gồm những gì?</a:t>
            </a:r>
          </a:p>
        </p:txBody>
      </p:sp>
      <p:sp>
        <p:nvSpPr>
          <p:cNvPr id="4" name="">
            <a:extLst xmlns:a="http://schemas.openxmlformats.org/drawingml/2006/main">
              <a:ext uri="{FF2B5EF4-FFF2-40B4-BE49-F238E27FC236}">
                <a16:creationId xmlns:a16="http://schemas.microsoft.com/office/drawing/2014/main" id="{F05E872E-CE40-4B09-AC8C-C8A976E21AFA}"/>
              </a:ext>
            </a:extLst>
          </p:cNvPr>
          <p:cNvSpPr>
            <a:spLocks xmlns:a="http://schemas.openxmlformats.org/drawingml/2006/main" noGrp="1"/>
          </p:cNvSpPr>
          <p:nvPr/>
        </p:nvSpPr>
        <p:spPr>
          <a:xfrm xmlns:a="http://schemas.openxmlformats.org/drawingml/2006/main">
            <a:off x="609600" y="65151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0">
                <a:solidFill>
                  <a:srgbClr val="5C6B73"/>
                </a:solidFill>
                <a:latin typeface="Arial"/>
                <a:ea typeface="Arial"/>
                <a:cs typeface="Arial"/>
              </a:defRPr>
            </a:pPr>
            <a:r>
              <a:rPr sz="750" b="0">
                <a:solidFill>
                  <a:srgbClr val="5C6B73"/>
                </a:solidFill>
                <a:latin typeface="Arial"/>
                <a:ea typeface="Arial"/>
                <a:cs typeface="Arial"/>
              </a:rPr>
              <a:t>Nguồn: Luật Đấu thầu hợp nhất 22/2023, sửa đổi 57/2024 và 90/2025; NĐ 214/2025; NĐ 349/2026; tài liệu nội bộ Viettel 2026</a:t>
            </a:r>
          </a:p>
        </p:txBody>
      </p:sp>
      <p:sp>
        <p:nvSpPr>
          <p:cNvPr id="5" name="">
            <a:extLst xmlns:a="http://schemas.openxmlformats.org/drawingml/2006/main">
              <a:ext uri="{FF2B5EF4-FFF2-40B4-BE49-F238E27FC236}">
                <a16:creationId xmlns:a16="http://schemas.microsoft.com/office/drawing/2014/main" id="{A2B3FBB4-FFB5-4462-B1CC-F70504DA90C7}"/>
              </a:ext>
            </a:extLst>
          </p:cNvPr>
          <p:cNvSpPr>
            <a:spLocks xmlns:a="http://schemas.openxmlformats.org/drawingml/2006/main" noGrp="1"/>
          </p:cNvSpPr>
          <p:nvPr/>
        </p:nvSpPr>
        <p:spPr>
          <a:xfrm xmlns:a="http://schemas.openxmlformats.org/drawingml/2006/main">
            <a:off x="809625" y="1524000"/>
            <a:ext cx="2952750" cy="1000125"/>
          </a:xfrm>
          <a:prstGeom xmlns:a="http://schemas.openxmlformats.org/drawingml/2006/main" prst="roundRect">
            <a:avLst>
              <a:gd name="adj" fmla="val 7619"/>
            </a:avLst>
          </a:prstGeom>
          <a:solidFill xmlns:a="http://schemas.openxmlformats.org/drawingml/2006/main">
            <a:srgbClr val="EAF4F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64AF422-68ED-43AE-9E34-E410FFC84F7C}"/>
              </a:ext>
            </a:extLst>
          </p:cNvPr>
          <p:cNvSpPr>
            <a:spLocks xmlns:a="http://schemas.openxmlformats.org/drawingml/2006/main" noGrp="1"/>
          </p:cNvSpPr>
          <p:nvPr/>
        </p:nvSpPr>
        <p:spPr>
          <a:xfrm xmlns:a="http://schemas.openxmlformats.org/drawingml/2006/main">
            <a:off x="981075" y="173355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063B5C"/>
                </a:solidFill>
                <a:latin typeface="Arial"/>
                <a:ea typeface="Arial"/>
                <a:cs typeface="Arial"/>
              </a:defRPr>
            </a:pPr>
            <a:r>
              <a:rPr sz="1500" b="1">
                <a:solidFill>
                  <a:srgbClr val="063B5C"/>
                </a:solidFill>
                <a:latin typeface="Arial"/>
                <a:ea typeface="Arial"/>
                <a:cs typeface="Arial"/>
              </a:rPr>
              <a:t>Chỉ dẫn nhà thầu</a:t>
            </a:r>
          </a:p>
        </p:txBody>
      </p:sp>
      <p:sp>
        <p:nvSpPr>
          <p:cNvPr id="7" name="">
            <a:extLst xmlns:a="http://schemas.openxmlformats.org/drawingml/2006/main">
              <a:ext uri="{FF2B5EF4-FFF2-40B4-BE49-F238E27FC236}">
                <a16:creationId xmlns:a16="http://schemas.microsoft.com/office/drawing/2014/main" id="{FA83A008-385F-471C-A379-CBCA5047C74B}"/>
              </a:ext>
            </a:extLst>
          </p:cNvPr>
          <p:cNvSpPr>
            <a:spLocks xmlns:a="http://schemas.openxmlformats.org/drawingml/2006/main" noGrp="1"/>
          </p:cNvSpPr>
          <p:nvPr/>
        </p:nvSpPr>
        <p:spPr>
          <a:xfrm xmlns:a="http://schemas.openxmlformats.org/drawingml/2006/main">
            <a:off x="4238625" y="1524000"/>
            <a:ext cx="2952750" cy="1000125"/>
          </a:xfrm>
          <a:prstGeom xmlns:a="http://schemas.openxmlformats.org/drawingml/2006/main" prst="roundRect">
            <a:avLst>
              <a:gd name="adj" fmla="val 7619"/>
            </a:avLst>
          </a:prstGeom>
          <a:solidFill xmlns:a="http://schemas.openxmlformats.org/drawingml/2006/main">
            <a:srgbClr val="EAF4F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465F442-C7C6-401F-A6DD-197DE513A577}"/>
              </a:ext>
            </a:extLst>
          </p:cNvPr>
          <p:cNvSpPr>
            <a:spLocks xmlns:a="http://schemas.openxmlformats.org/drawingml/2006/main" noGrp="1"/>
          </p:cNvSpPr>
          <p:nvPr/>
        </p:nvSpPr>
        <p:spPr>
          <a:xfrm xmlns:a="http://schemas.openxmlformats.org/drawingml/2006/main">
            <a:off x="4410075" y="173355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063B5C"/>
                </a:solidFill>
                <a:latin typeface="Arial"/>
                <a:ea typeface="Arial"/>
                <a:cs typeface="Arial"/>
              </a:defRPr>
            </a:pPr>
            <a:r>
              <a:rPr sz="1500" b="1">
                <a:solidFill>
                  <a:srgbClr val="063B5C"/>
                </a:solidFill>
                <a:latin typeface="Arial"/>
                <a:ea typeface="Arial"/>
                <a:cs typeface="Arial"/>
              </a:rPr>
              <a:t>Bảng dữ liệu đấu thầu</a:t>
            </a:r>
          </a:p>
        </p:txBody>
      </p:sp>
      <p:sp>
        <p:nvSpPr>
          <p:cNvPr id="9" name="">
            <a:extLst xmlns:a="http://schemas.openxmlformats.org/drawingml/2006/main">
              <a:ext uri="{FF2B5EF4-FFF2-40B4-BE49-F238E27FC236}">
                <a16:creationId xmlns:a16="http://schemas.microsoft.com/office/drawing/2014/main" id="{F34C8640-61D3-43B2-A312-D0FC6A0E0D64}"/>
              </a:ext>
            </a:extLst>
          </p:cNvPr>
          <p:cNvSpPr>
            <a:spLocks xmlns:a="http://schemas.openxmlformats.org/drawingml/2006/main" noGrp="1"/>
          </p:cNvSpPr>
          <p:nvPr/>
        </p:nvSpPr>
        <p:spPr>
          <a:xfrm xmlns:a="http://schemas.openxmlformats.org/drawingml/2006/main">
            <a:off x="7667625" y="1524000"/>
            <a:ext cx="2952750" cy="1000125"/>
          </a:xfrm>
          <a:prstGeom xmlns:a="http://schemas.openxmlformats.org/drawingml/2006/main" prst="roundRect">
            <a:avLst>
              <a:gd name="adj" fmla="val 7619"/>
            </a:avLst>
          </a:prstGeom>
          <a:solidFill xmlns:a="http://schemas.openxmlformats.org/drawingml/2006/main">
            <a:srgbClr val="0077A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F2CE68D-BED6-4D07-A4DD-89E519E402CC}"/>
              </a:ext>
            </a:extLst>
          </p:cNvPr>
          <p:cNvSpPr>
            <a:spLocks xmlns:a="http://schemas.openxmlformats.org/drawingml/2006/main" noGrp="1"/>
          </p:cNvSpPr>
          <p:nvPr/>
        </p:nvSpPr>
        <p:spPr>
          <a:xfrm xmlns:a="http://schemas.openxmlformats.org/drawingml/2006/main">
            <a:off x="7839075" y="173355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Tiêu chuẩn đánh giá</a:t>
            </a:r>
          </a:p>
        </p:txBody>
      </p:sp>
      <p:sp>
        <p:nvSpPr>
          <p:cNvPr id="11" name="">
            <a:extLst xmlns:a="http://schemas.openxmlformats.org/drawingml/2006/main">
              <a:ext uri="{FF2B5EF4-FFF2-40B4-BE49-F238E27FC236}">
                <a16:creationId xmlns:a16="http://schemas.microsoft.com/office/drawing/2014/main" id="{C253A1E3-268C-4130-81FD-FF6952AF3F4C}"/>
              </a:ext>
            </a:extLst>
          </p:cNvPr>
          <p:cNvSpPr>
            <a:spLocks xmlns:a="http://schemas.openxmlformats.org/drawingml/2006/main" noGrp="1"/>
          </p:cNvSpPr>
          <p:nvPr/>
        </p:nvSpPr>
        <p:spPr>
          <a:xfrm xmlns:a="http://schemas.openxmlformats.org/drawingml/2006/main">
            <a:off x="809625" y="3048000"/>
            <a:ext cx="2952750" cy="1000125"/>
          </a:xfrm>
          <a:prstGeom xmlns:a="http://schemas.openxmlformats.org/drawingml/2006/main" prst="roundRect">
            <a:avLst>
              <a:gd name="adj" fmla="val 7619"/>
            </a:avLst>
          </a:prstGeom>
          <a:solidFill xmlns:a="http://schemas.openxmlformats.org/drawingml/2006/main">
            <a:srgbClr val="EAF4F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5091E82-F219-4DB3-A9A1-4EA14AB5A7C5}"/>
              </a:ext>
            </a:extLst>
          </p:cNvPr>
          <p:cNvSpPr>
            <a:spLocks xmlns:a="http://schemas.openxmlformats.org/drawingml/2006/main" noGrp="1"/>
          </p:cNvSpPr>
          <p:nvPr/>
        </p:nvSpPr>
        <p:spPr>
          <a:xfrm xmlns:a="http://schemas.openxmlformats.org/drawingml/2006/main">
            <a:off x="981075" y="325755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063B5C"/>
                </a:solidFill>
                <a:latin typeface="Arial"/>
                <a:ea typeface="Arial"/>
                <a:cs typeface="Arial"/>
              </a:defRPr>
            </a:pPr>
            <a:r>
              <a:rPr sz="1500" b="1">
                <a:solidFill>
                  <a:srgbClr val="063B5C"/>
                </a:solidFill>
                <a:latin typeface="Arial"/>
                <a:ea typeface="Arial"/>
                <a:cs typeface="Arial"/>
              </a:rPr>
              <a:t>Yêu cầu kỹ thuật / phạm vi cung cấp</a:t>
            </a:r>
          </a:p>
        </p:txBody>
      </p:sp>
      <p:sp>
        <p:nvSpPr>
          <p:cNvPr id="13" name="">
            <a:extLst xmlns:a="http://schemas.openxmlformats.org/drawingml/2006/main">
              <a:ext uri="{FF2B5EF4-FFF2-40B4-BE49-F238E27FC236}">
                <a16:creationId xmlns:a16="http://schemas.microsoft.com/office/drawing/2014/main" id="{D2B01D42-77A1-425F-A1B4-8B5404154F08}"/>
              </a:ext>
            </a:extLst>
          </p:cNvPr>
          <p:cNvSpPr>
            <a:spLocks xmlns:a="http://schemas.openxmlformats.org/drawingml/2006/main" noGrp="1"/>
          </p:cNvSpPr>
          <p:nvPr/>
        </p:nvSpPr>
        <p:spPr>
          <a:xfrm xmlns:a="http://schemas.openxmlformats.org/drawingml/2006/main">
            <a:off x="4238625" y="3048000"/>
            <a:ext cx="2952750" cy="1000125"/>
          </a:xfrm>
          <a:prstGeom xmlns:a="http://schemas.openxmlformats.org/drawingml/2006/main" prst="roundRect">
            <a:avLst>
              <a:gd name="adj" fmla="val 7619"/>
            </a:avLst>
          </a:prstGeom>
          <a:solidFill xmlns:a="http://schemas.openxmlformats.org/drawingml/2006/main">
            <a:srgbClr val="EAF4F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08B0505-A3C2-45FF-A308-A7F8334A8EF0}"/>
              </a:ext>
            </a:extLst>
          </p:cNvPr>
          <p:cNvSpPr>
            <a:spLocks xmlns:a="http://schemas.openxmlformats.org/drawingml/2006/main" noGrp="1"/>
          </p:cNvSpPr>
          <p:nvPr/>
        </p:nvSpPr>
        <p:spPr>
          <a:xfrm xmlns:a="http://schemas.openxmlformats.org/drawingml/2006/main">
            <a:off x="4410075" y="325755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063B5C"/>
                </a:solidFill>
                <a:latin typeface="Arial"/>
                <a:ea typeface="Arial"/>
                <a:cs typeface="Arial"/>
              </a:defRPr>
            </a:pPr>
            <a:r>
              <a:rPr sz="1500" b="1">
                <a:solidFill>
                  <a:srgbClr val="063B5C"/>
                </a:solidFill>
                <a:latin typeface="Arial"/>
                <a:ea typeface="Arial"/>
                <a:cs typeface="Arial"/>
              </a:rPr>
              <a:t>Điều kiện hợp đồng</a:t>
            </a:r>
          </a:p>
        </p:txBody>
      </p:sp>
      <p:sp>
        <p:nvSpPr>
          <p:cNvPr id="15" name="">
            <a:extLst xmlns:a="http://schemas.openxmlformats.org/drawingml/2006/main">
              <a:ext uri="{FF2B5EF4-FFF2-40B4-BE49-F238E27FC236}">
                <a16:creationId xmlns:a16="http://schemas.microsoft.com/office/drawing/2014/main" id="{3A7CD404-7F18-4E06-AEEE-B5E131356A5E}"/>
              </a:ext>
            </a:extLst>
          </p:cNvPr>
          <p:cNvSpPr>
            <a:spLocks xmlns:a="http://schemas.openxmlformats.org/drawingml/2006/main" noGrp="1"/>
          </p:cNvSpPr>
          <p:nvPr/>
        </p:nvSpPr>
        <p:spPr>
          <a:xfrm xmlns:a="http://schemas.openxmlformats.org/drawingml/2006/main">
            <a:off x="7667625" y="3048000"/>
            <a:ext cx="2952750" cy="1000125"/>
          </a:xfrm>
          <a:prstGeom xmlns:a="http://schemas.openxmlformats.org/drawingml/2006/main" prst="roundRect">
            <a:avLst>
              <a:gd name="adj" fmla="val 7619"/>
            </a:avLst>
          </a:prstGeom>
          <a:solidFill xmlns:a="http://schemas.openxmlformats.org/drawingml/2006/main">
            <a:srgbClr val="EAF4F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EE6315B-E63F-428B-8624-C25CFEFDD1B7}"/>
              </a:ext>
            </a:extLst>
          </p:cNvPr>
          <p:cNvSpPr>
            <a:spLocks xmlns:a="http://schemas.openxmlformats.org/drawingml/2006/main" noGrp="1"/>
          </p:cNvSpPr>
          <p:nvPr/>
        </p:nvSpPr>
        <p:spPr>
          <a:xfrm xmlns:a="http://schemas.openxmlformats.org/drawingml/2006/main">
            <a:off x="7839075" y="325755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063B5C"/>
                </a:solidFill>
                <a:latin typeface="Arial"/>
                <a:ea typeface="Arial"/>
                <a:cs typeface="Arial"/>
              </a:defRPr>
            </a:pPr>
            <a:r>
              <a:rPr sz="1500" b="1">
                <a:solidFill>
                  <a:srgbClr val="063B5C"/>
                </a:solidFill>
                <a:latin typeface="Arial"/>
                <a:ea typeface="Arial"/>
                <a:cs typeface="Arial"/>
              </a:rPr>
              <a:t>Biểu mẫu dự thầu và phụ lục</a:t>
            </a:r>
          </a:p>
        </p:txBody>
      </p:sp>
    </p:spTree>
    <p:extLst>
      <p:ext uri="{BB962C8B-B14F-4D97-AF65-F5344CB8AC3E}">
        <p14:creationId xmlns:p14="http://schemas.microsoft.com/office/powerpoint/2010/main" val="24453666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5F625B4-4D2A-4C6D-BE2C-2998BBF1C7F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9FCDA3-0BF7-442C-B340-7C3E13A3357D}"/>
              </a:ext>
            </a:extLst>
          </p:cNvPr>
          <p:cNvSpPr>
            <a:spLocks xmlns:a="http://schemas.openxmlformats.org/drawingml/2006/main" noGrp="1"/>
          </p:cNvSpPr>
          <p:nvPr/>
        </p:nvSpPr>
        <p:spPr>
          <a:xfrm xmlns:a="http://schemas.openxmlformats.org/drawingml/2006/main">
            <a:off x="609600" y="285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0077A8"/>
                </a:solidFill>
                <a:latin typeface="Arial"/>
                <a:ea typeface="Arial"/>
                <a:cs typeface="Arial"/>
              </a:defRPr>
            </a:pPr>
            <a:r>
              <a:rPr sz="975" b="1">
                <a:solidFill>
                  <a:srgbClr val="0077A8"/>
                </a:solidFill>
                <a:latin typeface="Arial"/>
                <a:ea typeface="Arial"/>
                <a:cs typeface="Arial"/>
              </a:rPr>
              <a:t>LUẬT ĐẤU THẦU | 60 PHÚT</a:t>
            </a:r>
          </a:p>
        </p:txBody>
      </p:sp>
      <p:sp>
        <p:nvSpPr>
          <p:cNvPr id="3" name="">
            <a:extLst xmlns:a="http://schemas.openxmlformats.org/drawingml/2006/main">
              <a:ext uri="{FF2B5EF4-FFF2-40B4-BE49-F238E27FC236}">
                <a16:creationId xmlns:a16="http://schemas.microsoft.com/office/drawing/2014/main" id="{F5C9D73C-3F87-4348-9924-9221F728DF96}"/>
              </a:ext>
            </a:extLst>
          </p:cNvPr>
          <p:cNvSpPr>
            <a:spLocks xmlns:a="http://schemas.openxmlformats.org/drawingml/2006/main" noGrp="1"/>
          </p:cNvSpPr>
          <p:nvPr/>
        </p:nvSpPr>
        <p:spPr>
          <a:xfrm xmlns:a="http://schemas.openxmlformats.org/drawingml/2006/main">
            <a:off x="609600" y="590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063B5C"/>
                </a:solidFill>
                <a:latin typeface="Arial"/>
                <a:ea typeface="Arial"/>
                <a:cs typeface="Arial"/>
              </a:defRPr>
            </a:pPr>
            <a:r>
              <a:rPr sz="2550" b="1">
                <a:solidFill>
                  <a:srgbClr val="063B5C"/>
                </a:solidFill>
                <a:latin typeface="Arial"/>
                <a:ea typeface="Arial"/>
                <a:cs typeface="Arial"/>
              </a:rPr>
              <a:t>Đọc HSMT theo 5 câu hỏi</a:t>
            </a:r>
          </a:p>
        </p:txBody>
      </p:sp>
      <p:sp>
        <p:nvSpPr>
          <p:cNvPr id="4" name="">
            <a:extLst xmlns:a="http://schemas.openxmlformats.org/drawingml/2006/main">
              <a:ext uri="{FF2B5EF4-FFF2-40B4-BE49-F238E27FC236}">
                <a16:creationId xmlns:a16="http://schemas.microsoft.com/office/drawing/2014/main" id="{22528B45-648C-4552-84B2-37F300B0DF62}"/>
              </a:ext>
            </a:extLst>
          </p:cNvPr>
          <p:cNvSpPr>
            <a:spLocks xmlns:a="http://schemas.openxmlformats.org/drawingml/2006/main" noGrp="1"/>
          </p:cNvSpPr>
          <p:nvPr/>
        </p:nvSpPr>
        <p:spPr>
          <a:xfrm xmlns:a="http://schemas.openxmlformats.org/drawingml/2006/main">
            <a:off x="609600" y="65151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0">
                <a:solidFill>
                  <a:srgbClr val="5C6B73"/>
                </a:solidFill>
                <a:latin typeface="Arial"/>
                <a:ea typeface="Arial"/>
                <a:cs typeface="Arial"/>
              </a:defRPr>
            </a:pPr>
            <a:r>
              <a:rPr sz="750" b="0">
                <a:solidFill>
                  <a:srgbClr val="5C6B73"/>
                </a:solidFill>
                <a:latin typeface="Arial"/>
                <a:ea typeface="Arial"/>
                <a:cs typeface="Arial"/>
              </a:rPr>
              <a:t>Nguồn: Luật Đấu thầu hợp nhất 22/2023, sửa đổi 57/2024 và 90/2025; NĐ 214/2025; NĐ 349/2026; tài liệu nội bộ Viettel 2026</a:t>
            </a:r>
          </a:p>
        </p:txBody>
      </p:sp>
      <p:sp>
        <p:nvSpPr>
          <p:cNvPr id="5" name="">
            <a:extLst xmlns:a="http://schemas.openxmlformats.org/drawingml/2006/main">
              <a:ext uri="{FF2B5EF4-FFF2-40B4-BE49-F238E27FC236}">
                <a16:creationId xmlns:a16="http://schemas.microsoft.com/office/drawing/2014/main" id="{B081CD31-E7A5-4C4B-84FA-36F77BCD69AC}"/>
              </a:ext>
            </a:extLst>
          </p:cNvPr>
          <p:cNvSpPr>
            <a:spLocks xmlns:a="http://schemas.openxmlformats.org/drawingml/2006/main" noGrp="1"/>
          </p:cNvSpPr>
          <p:nvPr/>
        </p:nvSpPr>
        <p:spPr>
          <a:xfrm xmlns:a="http://schemas.openxmlformats.org/drawingml/2006/main">
            <a:off x="857250" y="135255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0077A8"/>
                </a:solidFill>
                <a:latin typeface="Arial"/>
                <a:ea typeface="Arial"/>
                <a:cs typeface="Arial"/>
              </a:defRPr>
            </a:pPr>
            <a:r>
              <a:rPr sz="1875" b="1">
                <a:solidFill>
                  <a:srgbClr val="0077A8"/>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A45FC94A-4962-402F-83DF-D6D50A74FB00}"/>
              </a:ext>
            </a:extLst>
          </p:cNvPr>
          <p:cNvSpPr>
            <a:spLocks xmlns:a="http://schemas.openxmlformats.org/drawingml/2006/main" noGrp="1"/>
          </p:cNvSpPr>
          <p:nvPr/>
        </p:nvSpPr>
        <p:spPr>
          <a:xfrm xmlns:a="http://schemas.openxmlformats.org/drawingml/2006/main">
            <a:off x="1619250" y="135255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1">
                <a:solidFill>
                  <a:srgbClr val="063B5C"/>
                </a:solidFill>
                <a:latin typeface="Arial"/>
                <a:ea typeface="Arial"/>
                <a:cs typeface="Arial"/>
              </a:defRPr>
            </a:pPr>
            <a:r>
              <a:rPr sz="1575" b="1">
                <a:solidFill>
                  <a:srgbClr val="063B5C"/>
                </a:solidFill>
                <a:latin typeface="Arial"/>
                <a:ea typeface="Arial"/>
                <a:cs typeface="Arial"/>
              </a:rPr>
              <a:t>Tôi phải cung cấp gì?</a:t>
            </a:r>
          </a:p>
        </p:txBody>
      </p:sp>
      <p:sp>
        <p:nvSpPr>
          <p:cNvPr id="7" name="">
            <a:extLst xmlns:a="http://schemas.openxmlformats.org/drawingml/2006/main">
              <a:ext uri="{FF2B5EF4-FFF2-40B4-BE49-F238E27FC236}">
                <a16:creationId xmlns:a16="http://schemas.microsoft.com/office/drawing/2014/main" id="{B5936223-648B-45BC-B9F2-58FEF020E490}"/>
              </a:ext>
            </a:extLst>
          </p:cNvPr>
          <p:cNvSpPr>
            <a:spLocks xmlns:a="http://schemas.openxmlformats.org/drawingml/2006/main" noGrp="1"/>
          </p:cNvSpPr>
          <p:nvPr/>
        </p:nvSpPr>
        <p:spPr>
          <a:xfrm xmlns:a="http://schemas.openxmlformats.org/drawingml/2006/main">
            <a:off x="5334000" y="135255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b="0">
                <a:solidFill>
                  <a:srgbClr val="173042"/>
                </a:solidFill>
                <a:latin typeface="Arial"/>
                <a:ea typeface="Arial"/>
                <a:cs typeface="Arial"/>
              </a:defRPr>
            </a:pPr>
            <a:r>
              <a:rPr sz="1425" b="0">
                <a:solidFill>
                  <a:srgbClr val="173042"/>
                </a:solidFill>
                <a:latin typeface="Arial"/>
                <a:ea typeface="Arial"/>
                <a:cs typeface="Arial"/>
              </a:rPr>
              <a:t>Phạm vi, khối lượng, thông số kỹ thuật</a:t>
            </a:r>
          </a:p>
        </p:txBody>
      </p:sp>
      <p:sp>
        <p:nvSpPr>
          <p:cNvPr id="8" name="">
            <a:extLst xmlns:a="http://schemas.openxmlformats.org/drawingml/2006/main">
              <a:ext uri="{FF2B5EF4-FFF2-40B4-BE49-F238E27FC236}">
                <a16:creationId xmlns:a16="http://schemas.microsoft.com/office/drawing/2014/main" id="{094A0D09-A5BE-43F7-8CF0-01AC51D71800}"/>
              </a:ext>
            </a:extLst>
          </p:cNvPr>
          <p:cNvSpPr>
            <a:spLocks xmlns:a="http://schemas.openxmlformats.org/drawingml/2006/main" noGrp="1"/>
          </p:cNvSpPr>
          <p:nvPr/>
        </p:nvSpPr>
        <p:spPr>
          <a:xfrm xmlns:a="http://schemas.openxmlformats.org/drawingml/2006/main">
            <a:off x="857250" y="2257425"/>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0077A8"/>
                </a:solidFill>
                <a:latin typeface="Arial"/>
                <a:ea typeface="Arial"/>
                <a:cs typeface="Arial"/>
              </a:defRPr>
            </a:pPr>
            <a:r>
              <a:rPr sz="1875" b="1">
                <a:solidFill>
                  <a:srgbClr val="0077A8"/>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FAD83EED-5E04-4719-BAD7-0D2B49B7AC59}"/>
              </a:ext>
            </a:extLst>
          </p:cNvPr>
          <p:cNvSpPr>
            <a:spLocks xmlns:a="http://schemas.openxmlformats.org/drawingml/2006/main" noGrp="1"/>
          </p:cNvSpPr>
          <p:nvPr/>
        </p:nvSpPr>
        <p:spPr>
          <a:xfrm xmlns:a="http://schemas.openxmlformats.org/drawingml/2006/main">
            <a:off x="1619250" y="225742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1">
                <a:solidFill>
                  <a:srgbClr val="063B5C"/>
                </a:solidFill>
                <a:latin typeface="Arial"/>
                <a:ea typeface="Arial"/>
                <a:cs typeface="Arial"/>
              </a:defRPr>
            </a:pPr>
            <a:r>
              <a:rPr sz="1575" b="1">
                <a:solidFill>
                  <a:srgbClr val="063B5C"/>
                </a:solidFill>
                <a:latin typeface="Arial"/>
                <a:ea typeface="Arial"/>
                <a:cs typeface="Arial"/>
              </a:rPr>
              <a:t>Tôi phải chứng minh gì?</a:t>
            </a:r>
          </a:p>
        </p:txBody>
      </p:sp>
      <p:sp>
        <p:nvSpPr>
          <p:cNvPr id="10" name="">
            <a:extLst xmlns:a="http://schemas.openxmlformats.org/drawingml/2006/main">
              <a:ext uri="{FF2B5EF4-FFF2-40B4-BE49-F238E27FC236}">
                <a16:creationId xmlns:a16="http://schemas.microsoft.com/office/drawing/2014/main" id="{C273BD5B-FEC7-4875-802A-0E5F60EB21C5}"/>
              </a:ext>
            </a:extLst>
          </p:cNvPr>
          <p:cNvSpPr>
            <a:spLocks xmlns:a="http://schemas.openxmlformats.org/drawingml/2006/main" noGrp="1"/>
          </p:cNvSpPr>
          <p:nvPr/>
        </p:nvSpPr>
        <p:spPr>
          <a:xfrm xmlns:a="http://schemas.openxmlformats.org/drawingml/2006/main">
            <a:off x="5334000" y="2257425"/>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b="0">
                <a:solidFill>
                  <a:srgbClr val="173042"/>
                </a:solidFill>
                <a:latin typeface="Arial"/>
                <a:ea typeface="Arial"/>
                <a:cs typeface="Arial"/>
              </a:defRPr>
            </a:pPr>
            <a:r>
              <a:rPr sz="1425" b="0">
                <a:solidFill>
                  <a:srgbClr val="173042"/>
                </a:solidFill>
                <a:latin typeface="Arial"/>
                <a:ea typeface="Arial"/>
                <a:cs typeface="Arial"/>
              </a:rPr>
              <a:t>Năng lực, kinh nghiệm, nhân sự, tài chính</a:t>
            </a:r>
          </a:p>
        </p:txBody>
      </p:sp>
      <p:sp>
        <p:nvSpPr>
          <p:cNvPr id="11" name="">
            <a:extLst xmlns:a="http://schemas.openxmlformats.org/drawingml/2006/main">
              <a:ext uri="{FF2B5EF4-FFF2-40B4-BE49-F238E27FC236}">
                <a16:creationId xmlns:a16="http://schemas.microsoft.com/office/drawing/2014/main" id="{B0F57464-04C9-4920-A38A-C96FF7BD3BBF}"/>
              </a:ext>
            </a:extLst>
          </p:cNvPr>
          <p:cNvSpPr>
            <a:spLocks xmlns:a="http://schemas.openxmlformats.org/drawingml/2006/main" noGrp="1"/>
          </p:cNvSpPr>
          <p:nvPr/>
        </p:nvSpPr>
        <p:spPr>
          <a:xfrm xmlns:a="http://schemas.openxmlformats.org/drawingml/2006/main">
            <a:off x="857250" y="316230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0077A8"/>
                </a:solidFill>
                <a:latin typeface="Arial"/>
                <a:ea typeface="Arial"/>
                <a:cs typeface="Arial"/>
              </a:defRPr>
            </a:pPr>
            <a:r>
              <a:rPr sz="1875" b="1">
                <a:solidFill>
                  <a:srgbClr val="0077A8"/>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EB9C9434-9389-4DAB-816C-B5C3AA5FC15F}"/>
              </a:ext>
            </a:extLst>
          </p:cNvPr>
          <p:cNvSpPr>
            <a:spLocks xmlns:a="http://schemas.openxmlformats.org/drawingml/2006/main" noGrp="1"/>
          </p:cNvSpPr>
          <p:nvPr/>
        </p:nvSpPr>
        <p:spPr>
          <a:xfrm xmlns:a="http://schemas.openxmlformats.org/drawingml/2006/main">
            <a:off x="1619250" y="316230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1">
                <a:solidFill>
                  <a:srgbClr val="063B5C"/>
                </a:solidFill>
                <a:latin typeface="Arial"/>
                <a:ea typeface="Arial"/>
                <a:cs typeface="Arial"/>
              </a:defRPr>
            </a:pPr>
            <a:r>
              <a:rPr sz="1575" b="1">
                <a:solidFill>
                  <a:srgbClr val="063B5C"/>
                </a:solidFill>
                <a:latin typeface="Arial"/>
                <a:ea typeface="Arial"/>
                <a:cs typeface="Arial"/>
              </a:rPr>
              <a:t>Tôi bị chấm như thế nào?</a:t>
            </a:r>
          </a:p>
        </p:txBody>
      </p:sp>
      <p:sp>
        <p:nvSpPr>
          <p:cNvPr id="13" name="">
            <a:extLst xmlns:a="http://schemas.openxmlformats.org/drawingml/2006/main">
              <a:ext uri="{FF2B5EF4-FFF2-40B4-BE49-F238E27FC236}">
                <a16:creationId xmlns:a16="http://schemas.microsoft.com/office/drawing/2014/main" id="{5EDB7E40-0C29-433D-B305-0DA4F8B0EBAF}"/>
              </a:ext>
            </a:extLst>
          </p:cNvPr>
          <p:cNvSpPr>
            <a:spLocks xmlns:a="http://schemas.openxmlformats.org/drawingml/2006/main" noGrp="1"/>
          </p:cNvSpPr>
          <p:nvPr/>
        </p:nvSpPr>
        <p:spPr>
          <a:xfrm xmlns:a="http://schemas.openxmlformats.org/drawingml/2006/main">
            <a:off x="5334000" y="316230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b="0">
                <a:solidFill>
                  <a:srgbClr val="173042"/>
                </a:solidFill>
                <a:latin typeface="Arial"/>
                <a:ea typeface="Arial"/>
                <a:cs typeface="Arial"/>
              </a:defRPr>
            </a:pPr>
            <a:r>
              <a:rPr sz="1425" b="0">
                <a:solidFill>
                  <a:srgbClr val="173042"/>
                </a:solidFill>
                <a:latin typeface="Arial"/>
                <a:ea typeface="Arial"/>
                <a:cs typeface="Arial"/>
              </a:rPr>
              <a:t>Đạt / không đạt, giá thấp nhất, kỹ thuật, kết hợp</a:t>
            </a:r>
          </a:p>
        </p:txBody>
      </p:sp>
      <p:sp>
        <p:nvSpPr>
          <p:cNvPr id="14" name="">
            <a:extLst xmlns:a="http://schemas.openxmlformats.org/drawingml/2006/main">
              <a:ext uri="{FF2B5EF4-FFF2-40B4-BE49-F238E27FC236}">
                <a16:creationId xmlns:a16="http://schemas.microsoft.com/office/drawing/2014/main" id="{BB28EF43-D757-47BA-B1DC-6C8202486E25}"/>
              </a:ext>
            </a:extLst>
          </p:cNvPr>
          <p:cNvSpPr>
            <a:spLocks xmlns:a="http://schemas.openxmlformats.org/drawingml/2006/main" noGrp="1"/>
          </p:cNvSpPr>
          <p:nvPr/>
        </p:nvSpPr>
        <p:spPr>
          <a:xfrm xmlns:a="http://schemas.openxmlformats.org/drawingml/2006/main">
            <a:off x="857250" y="4067175"/>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0077A8"/>
                </a:solidFill>
                <a:latin typeface="Arial"/>
                <a:ea typeface="Arial"/>
                <a:cs typeface="Arial"/>
              </a:defRPr>
            </a:pPr>
            <a:r>
              <a:rPr sz="1875" b="1">
                <a:solidFill>
                  <a:srgbClr val="0077A8"/>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C1C930B3-E9CF-43FB-9424-49FFDAAE40B4}"/>
              </a:ext>
            </a:extLst>
          </p:cNvPr>
          <p:cNvSpPr>
            <a:spLocks xmlns:a="http://schemas.openxmlformats.org/drawingml/2006/main" noGrp="1"/>
          </p:cNvSpPr>
          <p:nvPr/>
        </p:nvSpPr>
        <p:spPr>
          <a:xfrm xmlns:a="http://schemas.openxmlformats.org/drawingml/2006/main">
            <a:off x="1619250" y="40671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1">
                <a:solidFill>
                  <a:srgbClr val="063B5C"/>
                </a:solidFill>
                <a:latin typeface="Arial"/>
                <a:ea typeface="Arial"/>
                <a:cs typeface="Arial"/>
              </a:defRPr>
            </a:pPr>
            <a:r>
              <a:rPr sz="1575" b="1">
                <a:solidFill>
                  <a:srgbClr val="063B5C"/>
                </a:solidFill>
                <a:latin typeface="Arial"/>
                <a:ea typeface="Arial"/>
                <a:cs typeface="Arial"/>
              </a:rPr>
              <a:t>Tôi phải nộp theo mẫu nào?</a:t>
            </a:r>
          </a:p>
        </p:txBody>
      </p:sp>
      <p:sp>
        <p:nvSpPr>
          <p:cNvPr id="16" name="">
            <a:extLst xmlns:a="http://schemas.openxmlformats.org/drawingml/2006/main">
              <a:ext uri="{FF2B5EF4-FFF2-40B4-BE49-F238E27FC236}">
                <a16:creationId xmlns:a16="http://schemas.microsoft.com/office/drawing/2014/main" id="{439C5211-67E8-488C-B69D-3C76DE4098F0}"/>
              </a:ext>
            </a:extLst>
          </p:cNvPr>
          <p:cNvSpPr>
            <a:spLocks xmlns:a="http://schemas.openxmlformats.org/drawingml/2006/main" noGrp="1"/>
          </p:cNvSpPr>
          <p:nvPr/>
        </p:nvSpPr>
        <p:spPr>
          <a:xfrm xmlns:a="http://schemas.openxmlformats.org/drawingml/2006/main">
            <a:off x="5334000" y="4067175"/>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b="0">
                <a:solidFill>
                  <a:srgbClr val="173042"/>
                </a:solidFill>
                <a:latin typeface="Arial"/>
                <a:ea typeface="Arial"/>
                <a:cs typeface="Arial"/>
              </a:defRPr>
            </a:pPr>
            <a:r>
              <a:rPr sz="1425" b="0">
                <a:solidFill>
                  <a:srgbClr val="173042"/>
                </a:solidFill>
                <a:latin typeface="Arial"/>
                <a:ea typeface="Arial"/>
                <a:cs typeface="Arial"/>
              </a:rPr>
              <a:t>Biểu mẫu, bảo đảm dự thầu, hiệu lực hồ sơ</a:t>
            </a:r>
          </a:p>
        </p:txBody>
      </p:sp>
      <p:sp>
        <p:nvSpPr>
          <p:cNvPr id="17" name="">
            <a:extLst xmlns:a="http://schemas.openxmlformats.org/drawingml/2006/main">
              <a:ext uri="{FF2B5EF4-FFF2-40B4-BE49-F238E27FC236}">
                <a16:creationId xmlns:a16="http://schemas.microsoft.com/office/drawing/2014/main" id="{CC375BA7-40EB-485D-93A1-B55917C9055D}"/>
              </a:ext>
            </a:extLst>
          </p:cNvPr>
          <p:cNvSpPr>
            <a:spLocks xmlns:a="http://schemas.openxmlformats.org/drawingml/2006/main" noGrp="1"/>
          </p:cNvSpPr>
          <p:nvPr/>
        </p:nvSpPr>
        <p:spPr>
          <a:xfrm xmlns:a="http://schemas.openxmlformats.org/drawingml/2006/main">
            <a:off x="857250" y="497205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0077A8"/>
                </a:solidFill>
                <a:latin typeface="Arial"/>
                <a:ea typeface="Arial"/>
                <a:cs typeface="Arial"/>
              </a:defRPr>
            </a:pPr>
            <a:r>
              <a:rPr sz="1875" b="1">
                <a:solidFill>
                  <a:srgbClr val="0077A8"/>
                </a:solidFill>
                <a:latin typeface="Arial"/>
                <a:ea typeface="Arial"/>
                <a:cs typeface="Arial"/>
              </a:rPr>
              <a:t>5</a:t>
            </a:r>
          </a:p>
        </p:txBody>
      </p:sp>
      <p:sp>
        <p:nvSpPr>
          <p:cNvPr id="18" name="">
            <a:extLst xmlns:a="http://schemas.openxmlformats.org/drawingml/2006/main">
              <a:ext uri="{FF2B5EF4-FFF2-40B4-BE49-F238E27FC236}">
                <a16:creationId xmlns:a16="http://schemas.microsoft.com/office/drawing/2014/main" id="{2551A934-F56E-4410-8E9B-2DC0F42D4CB7}"/>
              </a:ext>
            </a:extLst>
          </p:cNvPr>
          <p:cNvSpPr>
            <a:spLocks xmlns:a="http://schemas.openxmlformats.org/drawingml/2006/main" noGrp="1"/>
          </p:cNvSpPr>
          <p:nvPr/>
        </p:nvSpPr>
        <p:spPr>
          <a:xfrm xmlns:a="http://schemas.openxmlformats.org/drawingml/2006/main">
            <a:off x="1619250" y="497205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1">
                <a:solidFill>
                  <a:srgbClr val="063B5C"/>
                </a:solidFill>
                <a:latin typeface="Arial"/>
                <a:ea typeface="Arial"/>
                <a:cs typeface="Arial"/>
              </a:defRPr>
            </a:pPr>
            <a:r>
              <a:rPr sz="1575" b="1">
                <a:solidFill>
                  <a:srgbClr val="063B5C"/>
                </a:solidFill>
                <a:latin typeface="Arial"/>
                <a:ea typeface="Arial"/>
                <a:cs typeface="Arial"/>
              </a:rPr>
              <a:t>Sau khi trúng, tôi chịu gì?</a:t>
            </a:r>
          </a:p>
        </p:txBody>
      </p:sp>
      <p:sp>
        <p:nvSpPr>
          <p:cNvPr id="19" name="">
            <a:extLst xmlns:a="http://schemas.openxmlformats.org/drawingml/2006/main">
              <a:ext uri="{FF2B5EF4-FFF2-40B4-BE49-F238E27FC236}">
                <a16:creationId xmlns:a16="http://schemas.microsoft.com/office/drawing/2014/main" id="{4F79B982-0AC6-4820-ACA2-AEDA52406100}"/>
              </a:ext>
            </a:extLst>
          </p:cNvPr>
          <p:cNvSpPr>
            <a:spLocks xmlns:a="http://schemas.openxmlformats.org/drawingml/2006/main" noGrp="1"/>
          </p:cNvSpPr>
          <p:nvPr/>
        </p:nvSpPr>
        <p:spPr>
          <a:xfrm xmlns:a="http://schemas.openxmlformats.org/drawingml/2006/main">
            <a:off x="5334000" y="497205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b="0">
                <a:solidFill>
                  <a:srgbClr val="173042"/>
                </a:solidFill>
                <a:latin typeface="Arial"/>
                <a:ea typeface="Arial"/>
                <a:cs typeface="Arial"/>
              </a:defRPr>
            </a:pPr>
            <a:r>
              <a:rPr sz="1425" b="0">
                <a:solidFill>
                  <a:srgbClr val="173042"/>
                </a:solidFill>
                <a:latin typeface="Arial"/>
                <a:ea typeface="Arial"/>
                <a:cs typeface="Arial"/>
              </a:rPr>
              <a:t>Tiến độ, nghiệm thu, bảo hành, phạt và chấm dứt</a:t>
            </a:r>
          </a:p>
        </p:txBody>
      </p:sp>
    </p:spTree>
    <p:extLst>
      <p:ext uri="{BB962C8B-B14F-4D97-AF65-F5344CB8AC3E}">
        <p14:creationId xmlns:p14="http://schemas.microsoft.com/office/powerpoint/2010/main" val="130628565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CF831E8-DD93-402A-9DE7-73D71880331B}"/>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13A2AA-153E-4426-A501-A628455E00C6}"/>
              </a:ext>
            </a:extLst>
          </p:cNvPr>
          <p:cNvSpPr>
            <a:spLocks xmlns:a="http://schemas.openxmlformats.org/drawingml/2006/main" noGrp="1"/>
          </p:cNvSpPr>
          <p:nvPr/>
        </p:nvSpPr>
        <p:spPr>
          <a:xfrm xmlns:a="http://schemas.openxmlformats.org/drawingml/2006/main">
            <a:off x="609600" y="285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0077A8"/>
                </a:solidFill>
                <a:latin typeface="Arial"/>
                <a:ea typeface="Arial"/>
                <a:cs typeface="Arial"/>
              </a:defRPr>
            </a:pPr>
            <a:r>
              <a:rPr sz="975" b="1">
                <a:solidFill>
                  <a:srgbClr val="0077A8"/>
                </a:solidFill>
                <a:latin typeface="Arial"/>
                <a:ea typeface="Arial"/>
                <a:cs typeface="Arial"/>
              </a:rPr>
              <a:t>LUẬT ĐẤU THẦU | 60 PHÚT</a:t>
            </a:r>
          </a:p>
        </p:txBody>
      </p:sp>
      <p:sp>
        <p:nvSpPr>
          <p:cNvPr id="3" name="">
            <a:extLst xmlns:a="http://schemas.openxmlformats.org/drawingml/2006/main">
              <a:ext uri="{FF2B5EF4-FFF2-40B4-BE49-F238E27FC236}">
                <a16:creationId xmlns:a16="http://schemas.microsoft.com/office/drawing/2014/main" id="{65A2455F-6BDB-4753-9C15-B4E8933FBE73}"/>
              </a:ext>
            </a:extLst>
          </p:cNvPr>
          <p:cNvSpPr>
            <a:spLocks xmlns:a="http://schemas.openxmlformats.org/drawingml/2006/main" noGrp="1"/>
          </p:cNvSpPr>
          <p:nvPr/>
        </p:nvSpPr>
        <p:spPr>
          <a:xfrm xmlns:a="http://schemas.openxmlformats.org/drawingml/2006/main">
            <a:off x="609600" y="590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063B5C"/>
                </a:solidFill>
                <a:latin typeface="Arial"/>
                <a:ea typeface="Arial"/>
                <a:cs typeface="Arial"/>
              </a:defRPr>
            </a:pPr>
            <a:r>
              <a:rPr sz="2550" b="1">
                <a:solidFill>
                  <a:srgbClr val="063B5C"/>
                </a:solidFill>
                <a:latin typeface="Arial"/>
                <a:ea typeface="Arial"/>
                <a:cs typeface="Arial"/>
              </a:rPr>
              <a:t>Đấu thầu qua mạng: thao tác không thay thế trách nhiệm</a:t>
            </a:r>
          </a:p>
        </p:txBody>
      </p:sp>
      <p:sp>
        <p:nvSpPr>
          <p:cNvPr id="4" name="">
            <a:extLst xmlns:a="http://schemas.openxmlformats.org/drawingml/2006/main">
              <a:ext uri="{FF2B5EF4-FFF2-40B4-BE49-F238E27FC236}">
                <a16:creationId xmlns:a16="http://schemas.microsoft.com/office/drawing/2014/main" id="{8CBA4B34-7D32-4421-9E79-06FFCD2CD820}"/>
              </a:ext>
            </a:extLst>
          </p:cNvPr>
          <p:cNvSpPr>
            <a:spLocks xmlns:a="http://schemas.openxmlformats.org/drawingml/2006/main" noGrp="1"/>
          </p:cNvSpPr>
          <p:nvPr/>
        </p:nvSpPr>
        <p:spPr>
          <a:xfrm xmlns:a="http://schemas.openxmlformats.org/drawingml/2006/main">
            <a:off x="609600" y="65151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0">
                <a:solidFill>
                  <a:srgbClr val="5C6B73"/>
                </a:solidFill>
                <a:latin typeface="Arial"/>
                <a:ea typeface="Arial"/>
                <a:cs typeface="Arial"/>
              </a:defRPr>
            </a:pPr>
            <a:r>
              <a:rPr sz="750" b="0">
                <a:solidFill>
                  <a:srgbClr val="5C6B73"/>
                </a:solidFill>
                <a:latin typeface="Arial"/>
                <a:ea typeface="Arial"/>
                <a:cs typeface="Arial"/>
              </a:rPr>
              <a:t>Nguồn: Luật Đấu thầu hợp nhất 22/2023, sửa đổi 57/2024 và 90/2025; NĐ 214/2025; NĐ 349/2026; tài liệu nội bộ Viettel 2026</a:t>
            </a:r>
          </a:p>
        </p:txBody>
      </p:sp>
      <p:sp>
        <p:nvSpPr>
          <p:cNvPr id="5" name="">
            <a:extLst xmlns:a="http://schemas.openxmlformats.org/drawingml/2006/main">
              <a:ext uri="{FF2B5EF4-FFF2-40B4-BE49-F238E27FC236}">
                <a16:creationId xmlns:a16="http://schemas.microsoft.com/office/drawing/2014/main" id="{7DAA1451-045E-4239-A271-A7F80AFF65BC}"/>
              </a:ext>
            </a:extLst>
          </p:cNvPr>
          <p:cNvSpPr>
            <a:spLocks xmlns:a="http://schemas.openxmlformats.org/drawingml/2006/main" noGrp="1"/>
          </p:cNvSpPr>
          <p:nvPr/>
        </p:nvSpPr>
        <p:spPr>
          <a:xfrm xmlns:a="http://schemas.openxmlformats.org/drawingml/2006/main">
            <a:off x="857250" y="152400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2491470-5C32-440A-A013-EDFEC02C5A38}"/>
              </a:ext>
            </a:extLst>
          </p:cNvPr>
          <p:cNvSpPr>
            <a:spLocks xmlns:a="http://schemas.openxmlformats.org/drawingml/2006/main" noGrp="1"/>
          </p:cNvSpPr>
          <p:nvPr/>
        </p:nvSpPr>
        <p:spPr>
          <a:xfrm xmlns:a="http://schemas.openxmlformats.org/drawingml/2006/main">
            <a:off x="1123950" y="1447800"/>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0">
                <a:solidFill>
                  <a:srgbClr val="173042"/>
                </a:solidFill>
                <a:latin typeface="Arial"/>
                <a:ea typeface="Arial"/>
                <a:cs typeface="Arial"/>
              </a:defRPr>
            </a:pPr>
            <a:r>
              <a:rPr sz="1650" b="0">
                <a:solidFill>
                  <a:srgbClr val="173042"/>
                </a:solidFill>
                <a:latin typeface="Arial"/>
                <a:ea typeface="Arial"/>
                <a:cs typeface="Arial"/>
              </a:rPr>
              <a:t>Tìm TBMT / KHLCNT trên cổng phù hợp</a:t>
            </a:r>
          </a:p>
        </p:txBody>
      </p:sp>
      <p:sp>
        <p:nvSpPr>
          <p:cNvPr id="7" name="">
            <a:extLst xmlns:a="http://schemas.openxmlformats.org/drawingml/2006/main">
              <a:ext uri="{FF2B5EF4-FFF2-40B4-BE49-F238E27FC236}">
                <a16:creationId xmlns:a16="http://schemas.microsoft.com/office/drawing/2014/main" id="{15A07C2D-0C02-4770-85E2-AA04D684FBE0}"/>
              </a:ext>
            </a:extLst>
          </p:cNvPr>
          <p:cNvSpPr>
            <a:spLocks xmlns:a="http://schemas.openxmlformats.org/drawingml/2006/main" noGrp="1"/>
          </p:cNvSpPr>
          <p:nvPr/>
        </p:nvSpPr>
        <p:spPr>
          <a:xfrm xmlns:a="http://schemas.openxmlformats.org/drawingml/2006/main">
            <a:off x="857250" y="220980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9140122-A453-4D57-87B6-D1F9343C2D60}"/>
              </a:ext>
            </a:extLst>
          </p:cNvPr>
          <p:cNvSpPr>
            <a:spLocks xmlns:a="http://schemas.openxmlformats.org/drawingml/2006/main" noGrp="1"/>
          </p:cNvSpPr>
          <p:nvPr/>
        </p:nvSpPr>
        <p:spPr>
          <a:xfrm xmlns:a="http://schemas.openxmlformats.org/drawingml/2006/main">
            <a:off x="1123950" y="2133600"/>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0">
                <a:solidFill>
                  <a:srgbClr val="173042"/>
                </a:solidFill>
                <a:latin typeface="Arial"/>
                <a:ea typeface="Arial"/>
                <a:cs typeface="Arial"/>
              </a:defRPr>
            </a:pPr>
            <a:r>
              <a:rPr sz="1650" b="0">
                <a:solidFill>
                  <a:srgbClr val="173042"/>
                </a:solidFill>
                <a:latin typeface="Arial"/>
                <a:ea typeface="Arial"/>
                <a:cs typeface="Arial"/>
              </a:rPr>
              <a:t>Đăng nhập để tải hồ sơ, làm rõ và nộp hồ sơ</a:t>
            </a:r>
          </a:p>
        </p:txBody>
      </p:sp>
      <p:sp>
        <p:nvSpPr>
          <p:cNvPr id="9" name="">
            <a:extLst xmlns:a="http://schemas.openxmlformats.org/drawingml/2006/main">
              <a:ext uri="{FF2B5EF4-FFF2-40B4-BE49-F238E27FC236}">
                <a16:creationId xmlns:a16="http://schemas.microsoft.com/office/drawing/2014/main" id="{F43C386D-DDA3-4B68-8425-BB551AAF7A3A}"/>
              </a:ext>
            </a:extLst>
          </p:cNvPr>
          <p:cNvSpPr>
            <a:spLocks xmlns:a="http://schemas.openxmlformats.org/drawingml/2006/main" noGrp="1"/>
          </p:cNvSpPr>
          <p:nvPr/>
        </p:nvSpPr>
        <p:spPr>
          <a:xfrm xmlns:a="http://schemas.openxmlformats.org/drawingml/2006/main">
            <a:off x="857250" y="289560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A8DB9E0-82C5-438D-92F4-5B9D2B1F57A2}"/>
              </a:ext>
            </a:extLst>
          </p:cNvPr>
          <p:cNvSpPr>
            <a:spLocks xmlns:a="http://schemas.openxmlformats.org/drawingml/2006/main" noGrp="1"/>
          </p:cNvSpPr>
          <p:nvPr/>
        </p:nvSpPr>
        <p:spPr>
          <a:xfrm xmlns:a="http://schemas.openxmlformats.org/drawingml/2006/main">
            <a:off x="1123950" y="2819400"/>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0">
                <a:solidFill>
                  <a:srgbClr val="173042"/>
                </a:solidFill>
                <a:latin typeface="Arial"/>
                <a:ea typeface="Arial"/>
                <a:cs typeface="Arial"/>
              </a:defRPr>
            </a:pPr>
            <a:r>
              <a:rPr sz="1650" b="0">
                <a:solidFill>
                  <a:srgbClr val="173042"/>
                </a:solidFill>
                <a:latin typeface="Arial"/>
                <a:ea typeface="Arial"/>
                <a:cs typeface="Arial"/>
              </a:rPr>
              <a:t>Kiểm tra chữ ký số, định dạng, dung lượng và thời điểm hệ thống ghi nhận</a:t>
            </a:r>
          </a:p>
        </p:txBody>
      </p:sp>
      <p:sp>
        <p:nvSpPr>
          <p:cNvPr id="11" name="">
            <a:extLst xmlns:a="http://schemas.openxmlformats.org/drawingml/2006/main">
              <a:ext uri="{FF2B5EF4-FFF2-40B4-BE49-F238E27FC236}">
                <a16:creationId xmlns:a16="http://schemas.microsoft.com/office/drawing/2014/main" id="{ECAF47BE-427B-4BE0-946D-65E0CFFC579F}"/>
              </a:ext>
            </a:extLst>
          </p:cNvPr>
          <p:cNvSpPr>
            <a:spLocks xmlns:a="http://schemas.openxmlformats.org/drawingml/2006/main" noGrp="1"/>
          </p:cNvSpPr>
          <p:nvPr/>
        </p:nvSpPr>
        <p:spPr>
          <a:xfrm xmlns:a="http://schemas.openxmlformats.org/drawingml/2006/main">
            <a:off x="857250" y="358140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A1B3DFA-DF45-4938-90DA-E1F827084D3C}"/>
              </a:ext>
            </a:extLst>
          </p:cNvPr>
          <p:cNvSpPr>
            <a:spLocks xmlns:a="http://schemas.openxmlformats.org/drawingml/2006/main" noGrp="1"/>
          </p:cNvSpPr>
          <p:nvPr/>
        </p:nvSpPr>
        <p:spPr>
          <a:xfrm xmlns:a="http://schemas.openxmlformats.org/drawingml/2006/main">
            <a:off x="1123950" y="3505200"/>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0">
                <a:solidFill>
                  <a:srgbClr val="173042"/>
                </a:solidFill>
                <a:latin typeface="Arial"/>
                <a:ea typeface="Arial"/>
                <a:cs typeface="Arial"/>
              </a:defRPr>
            </a:pPr>
            <a:r>
              <a:rPr sz="1650" b="0">
                <a:solidFill>
                  <a:srgbClr val="173042"/>
                </a:solidFill>
                <a:latin typeface="Arial"/>
                <a:ea typeface="Arial"/>
                <a:cs typeface="Arial"/>
              </a:rPr>
              <a:t>Lưu bằng chứng: thông báo, biên bản, lịch sử trao đổi, kết quả</a:t>
            </a:r>
          </a:p>
        </p:txBody>
      </p:sp>
      <p:sp>
        <p:nvSpPr>
          <p:cNvPr id="13" name="">
            <a:extLst xmlns:a="http://schemas.openxmlformats.org/drawingml/2006/main">
              <a:ext uri="{FF2B5EF4-FFF2-40B4-BE49-F238E27FC236}">
                <a16:creationId xmlns:a16="http://schemas.microsoft.com/office/drawing/2014/main" id="{2FFAE335-3B07-4409-9668-1FD7DF15A9B5}"/>
              </a:ext>
            </a:extLst>
          </p:cNvPr>
          <p:cNvSpPr>
            <a:spLocks xmlns:a="http://schemas.openxmlformats.org/drawingml/2006/main" noGrp="1"/>
          </p:cNvSpPr>
          <p:nvPr/>
        </p:nvSpPr>
        <p:spPr>
          <a:xfrm xmlns:a="http://schemas.openxmlformats.org/drawingml/2006/main">
            <a:off x="857250" y="4905375"/>
            <a:ext cx="9810750" cy="523875"/>
          </a:xfrm>
          <a:prstGeom xmlns:a="http://schemas.openxmlformats.org/drawingml/2006/main" prst="roundRect">
            <a:avLst>
              <a:gd name="adj" fmla="val 14545"/>
            </a:avLst>
          </a:prstGeom>
          <a:solidFill xmlns:a="http://schemas.openxmlformats.org/drawingml/2006/main">
            <a:srgbClr val="FFF4D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1057BD1-F720-4172-A99D-C9B69208978E}"/>
              </a:ext>
            </a:extLst>
          </p:cNvPr>
          <p:cNvSpPr>
            <a:spLocks xmlns:a="http://schemas.openxmlformats.org/drawingml/2006/main" noGrp="1"/>
          </p:cNvSpPr>
          <p:nvPr/>
        </p:nvSpPr>
        <p:spPr>
          <a:xfrm xmlns:a="http://schemas.openxmlformats.org/drawingml/2006/main">
            <a:off x="1095375" y="5029200"/>
            <a:ext cx="933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425" b="1">
                <a:solidFill>
                  <a:srgbClr val="063B5C"/>
                </a:solidFill>
                <a:latin typeface="Arial"/>
                <a:ea typeface="Arial"/>
                <a:cs typeface="Arial"/>
              </a:defRPr>
            </a:pPr>
            <a:r>
              <a:rPr sz="1425" b="1">
                <a:solidFill>
                  <a:srgbClr val="063B5C"/>
                </a:solidFill>
                <a:latin typeface="Arial"/>
                <a:ea typeface="Arial"/>
                <a:cs typeface="Arial"/>
              </a:rPr>
              <a:t>Quy định Viettel 2026 chi tiết hóa việc lựa chọn qua mạng và cung cấp, đăng tải thông tin theo Quy chế công ty.</a:t>
            </a:r>
          </a:p>
        </p:txBody>
      </p:sp>
    </p:spTree>
    <p:extLst>
      <p:ext uri="{BB962C8B-B14F-4D97-AF65-F5344CB8AC3E}">
        <p14:creationId xmlns:p14="http://schemas.microsoft.com/office/powerpoint/2010/main" val="15629612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F73B6D3-4BD5-49F7-AB05-F65DA4A22AA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AD013D-481E-4C63-AE72-14F1994084F7}"/>
              </a:ext>
            </a:extLst>
          </p:cNvPr>
          <p:cNvSpPr>
            <a:spLocks xmlns:a="http://schemas.openxmlformats.org/drawingml/2006/main" noGrp="1"/>
          </p:cNvSpPr>
          <p:nvPr/>
        </p:nvSpPr>
        <p:spPr>
          <a:xfrm xmlns:a="http://schemas.openxmlformats.org/drawingml/2006/main">
            <a:off x="609600" y="285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0077A8"/>
                </a:solidFill>
                <a:latin typeface="Arial"/>
                <a:ea typeface="Arial"/>
                <a:cs typeface="Arial"/>
              </a:defRPr>
            </a:pPr>
            <a:r>
              <a:rPr sz="975" b="1">
                <a:solidFill>
                  <a:srgbClr val="0077A8"/>
                </a:solidFill>
                <a:latin typeface="Arial"/>
                <a:ea typeface="Arial"/>
                <a:cs typeface="Arial"/>
              </a:rPr>
              <a:t>LUẬT ĐẤU THẦU | 60 PHÚT</a:t>
            </a:r>
          </a:p>
        </p:txBody>
      </p:sp>
      <p:sp>
        <p:nvSpPr>
          <p:cNvPr id="3" name="">
            <a:extLst xmlns:a="http://schemas.openxmlformats.org/drawingml/2006/main">
              <a:ext uri="{FF2B5EF4-FFF2-40B4-BE49-F238E27FC236}">
                <a16:creationId xmlns:a16="http://schemas.microsoft.com/office/drawing/2014/main" id="{3F0E36E0-0D57-454F-B283-CB78A1543001}"/>
              </a:ext>
            </a:extLst>
          </p:cNvPr>
          <p:cNvSpPr>
            <a:spLocks xmlns:a="http://schemas.openxmlformats.org/drawingml/2006/main" noGrp="1"/>
          </p:cNvSpPr>
          <p:nvPr/>
        </p:nvSpPr>
        <p:spPr>
          <a:xfrm xmlns:a="http://schemas.openxmlformats.org/drawingml/2006/main">
            <a:off x="609600" y="590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063B5C"/>
                </a:solidFill>
                <a:latin typeface="Arial"/>
                <a:ea typeface="Arial"/>
                <a:cs typeface="Arial"/>
              </a:defRPr>
            </a:pPr>
            <a:r>
              <a:rPr sz="2550" b="1">
                <a:solidFill>
                  <a:srgbClr val="063B5C"/>
                </a:solidFill>
                <a:latin typeface="Arial"/>
                <a:ea typeface="Arial"/>
                <a:cs typeface="Arial"/>
              </a:rPr>
              <a:t>Tình huống 3 phút</a:t>
            </a:r>
          </a:p>
        </p:txBody>
      </p:sp>
      <p:sp>
        <p:nvSpPr>
          <p:cNvPr id="4" name="">
            <a:extLst xmlns:a="http://schemas.openxmlformats.org/drawingml/2006/main">
              <a:ext uri="{FF2B5EF4-FFF2-40B4-BE49-F238E27FC236}">
                <a16:creationId xmlns:a16="http://schemas.microsoft.com/office/drawing/2014/main" id="{659577D1-0A08-471B-9031-460186272114}"/>
              </a:ext>
            </a:extLst>
          </p:cNvPr>
          <p:cNvSpPr>
            <a:spLocks xmlns:a="http://schemas.openxmlformats.org/drawingml/2006/main" noGrp="1"/>
          </p:cNvSpPr>
          <p:nvPr/>
        </p:nvSpPr>
        <p:spPr>
          <a:xfrm xmlns:a="http://schemas.openxmlformats.org/drawingml/2006/main">
            <a:off x="609600" y="65151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0">
                <a:solidFill>
                  <a:srgbClr val="5C6B73"/>
                </a:solidFill>
                <a:latin typeface="Arial"/>
                <a:ea typeface="Arial"/>
                <a:cs typeface="Arial"/>
              </a:defRPr>
            </a:pPr>
            <a:r>
              <a:rPr sz="750" b="0">
                <a:solidFill>
                  <a:srgbClr val="5C6B73"/>
                </a:solidFill>
                <a:latin typeface="Arial"/>
                <a:ea typeface="Arial"/>
                <a:cs typeface="Arial"/>
              </a:rPr>
              <a:t>Nguồn: Luật Đấu thầu hợp nhất 22/2023, sửa đổi 57/2024 và 90/2025; NĐ 214/2025; NĐ 349/2026; tài liệu nội bộ Viettel 2026</a:t>
            </a:r>
          </a:p>
        </p:txBody>
      </p:sp>
      <p:sp>
        <p:nvSpPr>
          <p:cNvPr id="5" name="">
            <a:extLst xmlns:a="http://schemas.openxmlformats.org/drawingml/2006/main">
              <a:ext uri="{FF2B5EF4-FFF2-40B4-BE49-F238E27FC236}">
                <a16:creationId xmlns:a16="http://schemas.microsoft.com/office/drawing/2014/main" id="{9BE93A46-ED9D-44D6-8936-EB3F8DAA6E96}"/>
              </a:ext>
            </a:extLst>
          </p:cNvPr>
          <p:cNvSpPr>
            <a:spLocks xmlns:a="http://schemas.openxmlformats.org/drawingml/2006/main" noGrp="1"/>
          </p:cNvSpPr>
          <p:nvPr/>
        </p:nvSpPr>
        <p:spPr>
          <a:xfrm xmlns:a="http://schemas.openxmlformats.org/drawingml/2006/main">
            <a:off x="857250" y="1476375"/>
            <a:ext cx="981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950" b="1">
                <a:solidFill>
                  <a:srgbClr val="063B5C"/>
                </a:solidFill>
                <a:latin typeface="Arial"/>
                <a:ea typeface="Arial"/>
                <a:cs typeface="Arial"/>
              </a:defRPr>
            </a:pPr>
            <a:r>
              <a:rPr sz="1950" b="1">
                <a:solidFill>
                  <a:srgbClr val="063B5C"/>
                </a:solidFill>
                <a:latin typeface="Arial"/>
                <a:ea typeface="Arial"/>
                <a:cs typeface="Arial"/>
              </a:rPr>
              <a:t>Hồ sơ có tiêu chí kỹ thuật chưa rõ, nhà thầu hỏi sát thời điểm đóng thầu</a:t>
            </a:r>
          </a:p>
        </p:txBody>
      </p:sp>
      <p:sp>
        <p:nvSpPr>
          <p:cNvPr id="6" name="">
            <a:extLst xmlns:a="http://schemas.openxmlformats.org/drawingml/2006/main">
              <a:ext uri="{FF2B5EF4-FFF2-40B4-BE49-F238E27FC236}">
                <a16:creationId xmlns:a16="http://schemas.microsoft.com/office/drawing/2014/main" id="{1E7A770A-B725-4BFF-8AE2-B14C8C35C914}"/>
              </a:ext>
            </a:extLst>
          </p:cNvPr>
          <p:cNvSpPr>
            <a:spLocks xmlns:a="http://schemas.openxmlformats.org/drawingml/2006/main" noGrp="1"/>
          </p:cNvSpPr>
          <p:nvPr/>
        </p:nvSpPr>
        <p:spPr>
          <a:xfrm xmlns:a="http://schemas.openxmlformats.org/drawingml/2006/main">
            <a:off x="857250" y="238125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6E25A22-5DA5-4D2B-98E4-B455427DCFE4}"/>
              </a:ext>
            </a:extLst>
          </p:cNvPr>
          <p:cNvSpPr>
            <a:spLocks xmlns:a="http://schemas.openxmlformats.org/drawingml/2006/main" noGrp="1"/>
          </p:cNvSpPr>
          <p:nvPr/>
        </p:nvSpPr>
        <p:spPr>
          <a:xfrm xmlns:a="http://schemas.openxmlformats.org/drawingml/2006/main">
            <a:off x="1123950" y="2305050"/>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0">
                <a:solidFill>
                  <a:srgbClr val="173042"/>
                </a:solidFill>
                <a:latin typeface="Arial"/>
                <a:ea typeface="Arial"/>
                <a:cs typeface="Arial"/>
              </a:defRPr>
            </a:pPr>
            <a:r>
              <a:rPr sz="1650" b="0">
                <a:solidFill>
                  <a:srgbClr val="173042"/>
                </a:solidFill>
                <a:latin typeface="Arial"/>
                <a:ea typeface="Arial"/>
                <a:cs typeface="Arial"/>
              </a:rPr>
              <a:t>Xác định kênh và thời hạn yêu cầu làm rõ</a:t>
            </a:r>
          </a:p>
        </p:txBody>
      </p:sp>
      <p:sp>
        <p:nvSpPr>
          <p:cNvPr id="8" name="">
            <a:extLst xmlns:a="http://schemas.openxmlformats.org/drawingml/2006/main">
              <a:ext uri="{FF2B5EF4-FFF2-40B4-BE49-F238E27FC236}">
                <a16:creationId xmlns:a16="http://schemas.microsoft.com/office/drawing/2014/main" id="{C455A55D-31D2-4361-9090-B1E31553994B}"/>
              </a:ext>
            </a:extLst>
          </p:cNvPr>
          <p:cNvSpPr>
            <a:spLocks xmlns:a="http://schemas.openxmlformats.org/drawingml/2006/main" noGrp="1"/>
          </p:cNvSpPr>
          <p:nvPr/>
        </p:nvSpPr>
        <p:spPr>
          <a:xfrm xmlns:a="http://schemas.openxmlformats.org/drawingml/2006/main">
            <a:off x="857250" y="306705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6346DBE-B158-400F-AFDE-73CAF4D4A85D}"/>
              </a:ext>
            </a:extLst>
          </p:cNvPr>
          <p:cNvSpPr>
            <a:spLocks xmlns:a="http://schemas.openxmlformats.org/drawingml/2006/main" noGrp="1"/>
          </p:cNvSpPr>
          <p:nvPr/>
        </p:nvSpPr>
        <p:spPr>
          <a:xfrm xmlns:a="http://schemas.openxmlformats.org/drawingml/2006/main">
            <a:off x="1123950" y="2990850"/>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0">
                <a:solidFill>
                  <a:srgbClr val="173042"/>
                </a:solidFill>
                <a:latin typeface="Arial"/>
                <a:ea typeface="Arial"/>
                <a:cs typeface="Arial"/>
              </a:defRPr>
            </a:pPr>
            <a:r>
              <a:rPr sz="1650" b="0">
                <a:solidFill>
                  <a:srgbClr val="173042"/>
                </a:solidFill>
                <a:latin typeface="Arial"/>
                <a:ea typeface="Arial"/>
                <a:cs typeface="Arial"/>
              </a:rPr>
              <a:t>Đánh giá có cần sửa đổi HSMT hay chỉ trả lời làm rõ</a:t>
            </a:r>
          </a:p>
        </p:txBody>
      </p:sp>
      <p:sp>
        <p:nvSpPr>
          <p:cNvPr id="10" name="">
            <a:extLst xmlns:a="http://schemas.openxmlformats.org/drawingml/2006/main">
              <a:ext uri="{FF2B5EF4-FFF2-40B4-BE49-F238E27FC236}">
                <a16:creationId xmlns:a16="http://schemas.microsoft.com/office/drawing/2014/main" id="{B67A4E97-CBEB-4F15-A398-98A26F69FD3B}"/>
              </a:ext>
            </a:extLst>
          </p:cNvPr>
          <p:cNvSpPr>
            <a:spLocks xmlns:a="http://schemas.openxmlformats.org/drawingml/2006/main" noGrp="1"/>
          </p:cNvSpPr>
          <p:nvPr/>
        </p:nvSpPr>
        <p:spPr>
          <a:xfrm xmlns:a="http://schemas.openxmlformats.org/drawingml/2006/main">
            <a:off x="857250" y="375285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10688DB-6B28-46F4-ACD3-1CA881D11873}"/>
              </a:ext>
            </a:extLst>
          </p:cNvPr>
          <p:cNvSpPr>
            <a:spLocks xmlns:a="http://schemas.openxmlformats.org/drawingml/2006/main" noGrp="1"/>
          </p:cNvSpPr>
          <p:nvPr/>
        </p:nvSpPr>
        <p:spPr>
          <a:xfrm xmlns:a="http://schemas.openxmlformats.org/drawingml/2006/main">
            <a:off x="1123950" y="3676650"/>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0">
                <a:solidFill>
                  <a:srgbClr val="173042"/>
                </a:solidFill>
                <a:latin typeface="Arial"/>
                <a:ea typeface="Arial"/>
                <a:cs typeface="Arial"/>
              </a:defRPr>
            </a:pPr>
            <a:r>
              <a:rPr sz="1650" b="0">
                <a:solidFill>
                  <a:srgbClr val="173042"/>
                </a:solidFill>
                <a:latin typeface="Arial"/>
                <a:ea typeface="Arial"/>
                <a:cs typeface="Arial"/>
              </a:rPr>
              <a:t>Nếu sửa đổi, kiểm tra lại thời hạn nộp hồ sơ và thông báo trên hệ thống</a:t>
            </a:r>
          </a:p>
        </p:txBody>
      </p:sp>
      <p:sp>
        <p:nvSpPr>
          <p:cNvPr id="12" name="">
            <a:extLst xmlns:a="http://schemas.openxmlformats.org/drawingml/2006/main">
              <a:ext uri="{FF2B5EF4-FFF2-40B4-BE49-F238E27FC236}">
                <a16:creationId xmlns:a16="http://schemas.microsoft.com/office/drawing/2014/main" id="{B33F5E06-7F22-4F77-AA7E-CD7B8241B272}"/>
              </a:ext>
            </a:extLst>
          </p:cNvPr>
          <p:cNvSpPr>
            <a:spLocks xmlns:a="http://schemas.openxmlformats.org/drawingml/2006/main" noGrp="1"/>
          </p:cNvSpPr>
          <p:nvPr/>
        </p:nvSpPr>
        <p:spPr>
          <a:xfrm xmlns:a="http://schemas.openxmlformats.org/drawingml/2006/main">
            <a:off x="857250" y="443865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29E97D7-A6D0-4993-98A2-476A612E9CC5}"/>
              </a:ext>
            </a:extLst>
          </p:cNvPr>
          <p:cNvSpPr>
            <a:spLocks xmlns:a="http://schemas.openxmlformats.org/drawingml/2006/main" noGrp="1"/>
          </p:cNvSpPr>
          <p:nvPr/>
        </p:nvSpPr>
        <p:spPr>
          <a:xfrm xmlns:a="http://schemas.openxmlformats.org/drawingml/2006/main">
            <a:off x="1123950" y="4362450"/>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0">
                <a:solidFill>
                  <a:srgbClr val="173042"/>
                </a:solidFill>
                <a:latin typeface="Arial"/>
                <a:ea typeface="Arial"/>
                <a:cs typeface="Arial"/>
              </a:defRPr>
            </a:pPr>
            <a:r>
              <a:rPr sz="1650" b="0">
                <a:solidFill>
                  <a:srgbClr val="173042"/>
                </a:solidFill>
                <a:latin typeface="Arial"/>
                <a:ea typeface="Arial"/>
                <a:cs typeface="Arial"/>
              </a:rPr>
              <a:t>Ghi nhận đầy đủ căn cứ và người phê duyệt</a:t>
            </a:r>
          </a:p>
        </p:txBody>
      </p:sp>
    </p:spTree>
    <p:extLst>
      <p:ext uri="{BB962C8B-B14F-4D97-AF65-F5344CB8AC3E}">
        <p14:creationId xmlns:p14="http://schemas.microsoft.com/office/powerpoint/2010/main" val="17459819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2013F23-D6D7-4B38-90E1-AE387590938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A7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F49A02-8AC6-4CF4-8807-7E58553F12E1}"/>
              </a:ext>
            </a:extLst>
          </p:cNvPr>
          <p:cNvSpPr>
            <a:spLocks xmlns:a="http://schemas.openxmlformats.org/drawingml/2006/main" noGrp="1"/>
          </p:cNvSpPr>
          <p:nvPr/>
        </p:nvSpPr>
        <p:spPr>
          <a:xfrm xmlns:a="http://schemas.openxmlformats.org/drawingml/2006/main">
            <a:off x="609600" y="2857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0077A8"/>
                </a:solidFill>
                <a:latin typeface="Arial"/>
                <a:ea typeface="Arial"/>
                <a:cs typeface="Arial"/>
              </a:defRPr>
            </a:pPr>
            <a:r>
              <a:rPr sz="975" b="1">
                <a:solidFill>
                  <a:srgbClr val="0077A8"/>
                </a:solidFill>
                <a:latin typeface="Arial"/>
                <a:ea typeface="Arial"/>
                <a:cs typeface="Arial"/>
              </a:rPr>
              <a:t>LUẬT ĐẤU THẦU | 60 PHÚT</a:t>
            </a:r>
          </a:p>
        </p:txBody>
      </p:sp>
      <p:sp>
        <p:nvSpPr>
          <p:cNvPr id="3" name="">
            <a:extLst xmlns:a="http://schemas.openxmlformats.org/drawingml/2006/main">
              <a:ext uri="{FF2B5EF4-FFF2-40B4-BE49-F238E27FC236}">
                <a16:creationId xmlns:a16="http://schemas.microsoft.com/office/drawing/2014/main" id="{941B713C-29E0-41D4-885C-69097BC6C394}"/>
              </a:ext>
            </a:extLst>
          </p:cNvPr>
          <p:cNvSpPr>
            <a:spLocks xmlns:a="http://schemas.openxmlformats.org/drawingml/2006/main" noGrp="1"/>
          </p:cNvSpPr>
          <p:nvPr/>
        </p:nvSpPr>
        <p:spPr>
          <a:xfrm xmlns:a="http://schemas.openxmlformats.org/drawingml/2006/main">
            <a:off x="609600" y="590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550" b="1">
                <a:solidFill>
                  <a:srgbClr val="063B5C"/>
                </a:solidFill>
                <a:latin typeface="Arial"/>
                <a:ea typeface="Arial"/>
                <a:cs typeface="Arial"/>
              </a:defRPr>
            </a:pPr>
            <a:r>
              <a:rPr sz="2550" b="1">
                <a:solidFill>
                  <a:srgbClr val="063B5C"/>
                </a:solidFill>
                <a:latin typeface="Arial"/>
                <a:ea typeface="Arial"/>
                <a:cs typeface="Arial"/>
              </a:rPr>
              <a:t>Bốn việc phải nhớ sau buổi học</a:t>
            </a:r>
          </a:p>
        </p:txBody>
      </p:sp>
      <p:sp>
        <p:nvSpPr>
          <p:cNvPr id="4" name="">
            <a:extLst xmlns:a="http://schemas.openxmlformats.org/drawingml/2006/main">
              <a:ext uri="{FF2B5EF4-FFF2-40B4-BE49-F238E27FC236}">
                <a16:creationId xmlns:a16="http://schemas.microsoft.com/office/drawing/2014/main" id="{03362BA6-A9C0-4191-8D7B-17196E42CC09}"/>
              </a:ext>
            </a:extLst>
          </p:cNvPr>
          <p:cNvSpPr>
            <a:spLocks xmlns:a="http://schemas.openxmlformats.org/drawingml/2006/main" noGrp="1"/>
          </p:cNvSpPr>
          <p:nvPr/>
        </p:nvSpPr>
        <p:spPr>
          <a:xfrm xmlns:a="http://schemas.openxmlformats.org/drawingml/2006/main">
            <a:off x="609600" y="65151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750" b="0">
                <a:solidFill>
                  <a:srgbClr val="5C6B73"/>
                </a:solidFill>
                <a:latin typeface="Arial"/>
                <a:ea typeface="Arial"/>
                <a:cs typeface="Arial"/>
              </a:defRPr>
            </a:pPr>
            <a:r>
              <a:rPr sz="750" b="0">
                <a:solidFill>
                  <a:srgbClr val="5C6B73"/>
                </a:solidFill>
                <a:latin typeface="Arial"/>
                <a:ea typeface="Arial"/>
                <a:cs typeface="Arial"/>
              </a:rPr>
              <a:t>Nguồn: Luật Đấu thầu hợp nhất 22/2023, sửa đổi 57/2024 và 90/2025; NĐ 214/2025; NĐ 349/2026; tài liệu nội bộ Viettel 2026</a:t>
            </a:r>
          </a:p>
        </p:txBody>
      </p:sp>
      <p:sp>
        <p:nvSpPr>
          <p:cNvPr id="5" name="">
            <a:extLst xmlns:a="http://schemas.openxmlformats.org/drawingml/2006/main">
              <a:ext uri="{FF2B5EF4-FFF2-40B4-BE49-F238E27FC236}">
                <a16:creationId xmlns:a16="http://schemas.microsoft.com/office/drawing/2014/main" id="{7531112D-A05A-4F36-8880-52166302B583}"/>
              </a:ext>
            </a:extLst>
          </p:cNvPr>
          <p:cNvSpPr>
            <a:spLocks xmlns:a="http://schemas.openxmlformats.org/drawingml/2006/main" noGrp="1"/>
          </p:cNvSpPr>
          <p:nvPr/>
        </p:nvSpPr>
        <p:spPr>
          <a:xfrm xmlns:a="http://schemas.openxmlformats.org/drawingml/2006/main">
            <a:off x="857250" y="161925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3E441A6-7AB3-4045-B6DD-A1A9B8CF1952}"/>
              </a:ext>
            </a:extLst>
          </p:cNvPr>
          <p:cNvSpPr>
            <a:spLocks xmlns:a="http://schemas.openxmlformats.org/drawingml/2006/main" noGrp="1"/>
          </p:cNvSpPr>
          <p:nvPr/>
        </p:nvSpPr>
        <p:spPr>
          <a:xfrm xmlns:a="http://schemas.openxmlformats.org/drawingml/2006/main">
            <a:off x="1123950" y="1543050"/>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0">
                <a:solidFill>
                  <a:srgbClr val="173042"/>
                </a:solidFill>
                <a:latin typeface="Arial"/>
                <a:ea typeface="Arial"/>
                <a:cs typeface="Arial"/>
              </a:defRPr>
            </a:pPr>
            <a:r>
              <a:rPr sz="1800" b="0">
                <a:solidFill>
                  <a:srgbClr val="173042"/>
                </a:solidFill>
                <a:latin typeface="Arial"/>
                <a:ea typeface="Arial"/>
                <a:cs typeface="Arial"/>
              </a:rPr>
              <a:t>Chọn đúng khung áp dụng: Luật, Nghị định hay Quy chế Viettel</a:t>
            </a:r>
          </a:p>
        </p:txBody>
      </p:sp>
      <p:sp>
        <p:nvSpPr>
          <p:cNvPr id="7" name="">
            <a:extLst xmlns:a="http://schemas.openxmlformats.org/drawingml/2006/main">
              <a:ext uri="{FF2B5EF4-FFF2-40B4-BE49-F238E27FC236}">
                <a16:creationId xmlns:a16="http://schemas.microsoft.com/office/drawing/2014/main" id="{211C1BC8-5A9F-458A-BCF2-64D91B7A0EDF}"/>
              </a:ext>
            </a:extLst>
          </p:cNvPr>
          <p:cNvSpPr>
            <a:spLocks xmlns:a="http://schemas.openxmlformats.org/drawingml/2006/main" noGrp="1"/>
          </p:cNvSpPr>
          <p:nvPr/>
        </p:nvSpPr>
        <p:spPr>
          <a:xfrm xmlns:a="http://schemas.openxmlformats.org/drawingml/2006/main">
            <a:off x="857250" y="236220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8C9F541-1069-4195-B9D2-8F247365D4E2}"/>
              </a:ext>
            </a:extLst>
          </p:cNvPr>
          <p:cNvSpPr>
            <a:spLocks xmlns:a="http://schemas.openxmlformats.org/drawingml/2006/main" noGrp="1"/>
          </p:cNvSpPr>
          <p:nvPr/>
        </p:nvSpPr>
        <p:spPr>
          <a:xfrm xmlns:a="http://schemas.openxmlformats.org/drawingml/2006/main">
            <a:off x="1123950" y="2286000"/>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0">
                <a:solidFill>
                  <a:srgbClr val="173042"/>
                </a:solidFill>
                <a:latin typeface="Arial"/>
                <a:ea typeface="Arial"/>
                <a:cs typeface="Arial"/>
              </a:defRPr>
            </a:pPr>
            <a:r>
              <a:rPr sz="1800" b="0">
                <a:solidFill>
                  <a:srgbClr val="173042"/>
                </a:solidFill>
                <a:latin typeface="Arial"/>
                <a:ea typeface="Arial"/>
                <a:cs typeface="Arial"/>
              </a:rPr>
              <a:t>Đọc HSMT từ yêu cầu đầu ra rồi quay về tiêu chí đánh giá</a:t>
            </a:r>
          </a:p>
        </p:txBody>
      </p:sp>
      <p:sp>
        <p:nvSpPr>
          <p:cNvPr id="9" name="">
            <a:extLst xmlns:a="http://schemas.openxmlformats.org/drawingml/2006/main">
              <a:ext uri="{FF2B5EF4-FFF2-40B4-BE49-F238E27FC236}">
                <a16:creationId xmlns:a16="http://schemas.microsoft.com/office/drawing/2014/main" id="{AEB15A76-8533-4DDC-97EE-64F723830B93}"/>
              </a:ext>
            </a:extLst>
          </p:cNvPr>
          <p:cNvSpPr>
            <a:spLocks xmlns:a="http://schemas.openxmlformats.org/drawingml/2006/main" noGrp="1"/>
          </p:cNvSpPr>
          <p:nvPr/>
        </p:nvSpPr>
        <p:spPr>
          <a:xfrm xmlns:a="http://schemas.openxmlformats.org/drawingml/2006/main">
            <a:off x="857250" y="310515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BEAE942-8EA8-4386-90C9-AE0A150C7C6B}"/>
              </a:ext>
            </a:extLst>
          </p:cNvPr>
          <p:cNvSpPr>
            <a:spLocks xmlns:a="http://schemas.openxmlformats.org/drawingml/2006/main" noGrp="1"/>
          </p:cNvSpPr>
          <p:nvPr/>
        </p:nvSpPr>
        <p:spPr>
          <a:xfrm xmlns:a="http://schemas.openxmlformats.org/drawingml/2006/main">
            <a:off x="1123950" y="3028950"/>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0">
                <a:solidFill>
                  <a:srgbClr val="173042"/>
                </a:solidFill>
                <a:latin typeface="Arial"/>
                <a:ea typeface="Arial"/>
                <a:cs typeface="Arial"/>
              </a:defRPr>
            </a:pPr>
            <a:r>
              <a:rPr sz="1800" b="0">
                <a:solidFill>
                  <a:srgbClr val="173042"/>
                </a:solidFill>
                <a:latin typeface="Arial"/>
                <a:ea typeface="Arial"/>
                <a:cs typeface="Arial"/>
              </a:rPr>
              <a:t>Quản lý mốc thời gian bằng thông báo và dấu vết trên hệ thống</a:t>
            </a:r>
          </a:p>
        </p:txBody>
      </p:sp>
      <p:sp>
        <p:nvSpPr>
          <p:cNvPr id="11" name="">
            <a:extLst xmlns:a="http://schemas.openxmlformats.org/drawingml/2006/main">
              <a:ext uri="{FF2B5EF4-FFF2-40B4-BE49-F238E27FC236}">
                <a16:creationId xmlns:a16="http://schemas.microsoft.com/office/drawing/2014/main" id="{E9FBC65D-3F0F-43D3-9452-6ABA367E8187}"/>
              </a:ext>
            </a:extLst>
          </p:cNvPr>
          <p:cNvSpPr>
            <a:spLocks xmlns:a="http://schemas.openxmlformats.org/drawingml/2006/main" noGrp="1"/>
          </p:cNvSpPr>
          <p:nvPr/>
        </p:nvSpPr>
        <p:spPr>
          <a:xfrm xmlns:a="http://schemas.openxmlformats.org/drawingml/2006/main">
            <a:off x="857250" y="3848100"/>
            <a:ext cx="95250" cy="95250"/>
          </a:xfrm>
          <a:prstGeom xmlns:a="http://schemas.openxmlformats.org/drawingml/2006/main" prst="roundRect">
            <a:avLst>
              <a:gd name="adj" fmla="val 50000"/>
            </a:avLst>
          </a:prstGeom>
          <a:solidFill xmlns:a="http://schemas.openxmlformats.org/drawingml/2006/main">
            <a:srgbClr val="00A7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BF15C9E-9AB1-4695-9A3F-D11B39AB8FF5}"/>
              </a:ext>
            </a:extLst>
          </p:cNvPr>
          <p:cNvSpPr>
            <a:spLocks xmlns:a="http://schemas.openxmlformats.org/drawingml/2006/main" noGrp="1"/>
          </p:cNvSpPr>
          <p:nvPr/>
        </p:nvSpPr>
        <p:spPr>
          <a:xfrm xmlns:a="http://schemas.openxmlformats.org/drawingml/2006/main">
            <a:off x="1123950" y="3771900"/>
            <a:ext cx="973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0">
                <a:solidFill>
                  <a:srgbClr val="173042"/>
                </a:solidFill>
                <a:latin typeface="Arial"/>
                <a:ea typeface="Arial"/>
                <a:cs typeface="Arial"/>
              </a:defRPr>
            </a:pPr>
            <a:r>
              <a:rPr sz="1800" b="0">
                <a:solidFill>
                  <a:srgbClr val="173042"/>
                </a:solidFill>
                <a:latin typeface="Arial"/>
                <a:ea typeface="Arial"/>
                <a:cs typeface="Arial"/>
              </a:rPr>
              <a:t>Mọi quyết định quan trọng phải có căn cứ và người chịu trách nhiệm</a:t>
            </a:r>
          </a:p>
        </p:txBody>
      </p:sp>
      <p:sp>
        <p:nvSpPr>
          <p:cNvPr id="13" name="">
            <a:extLst xmlns:a="http://schemas.openxmlformats.org/drawingml/2006/main">
              <a:ext uri="{FF2B5EF4-FFF2-40B4-BE49-F238E27FC236}">
                <a16:creationId xmlns:a16="http://schemas.microsoft.com/office/drawing/2014/main" id="{6C2828CB-57CF-489B-A270-E1F62A7A942D}"/>
              </a:ext>
            </a:extLst>
          </p:cNvPr>
          <p:cNvSpPr>
            <a:spLocks xmlns:a="http://schemas.openxmlformats.org/drawingml/2006/main" noGrp="1"/>
          </p:cNvSpPr>
          <p:nvPr/>
        </p:nvSpPr>
        <p:spPr>
          <a:xfrm xmlns:a="http://schemas.openxmlformats.org/drawingml/2006/main">
            <a:off x="857250" y="53816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1">
                <a:solidFill>
                  <a:srgbClr val="0077A8"/>
                </a:solidFill>
                <a:latin typeface="Arial"/>
                <a:ea typeface="Arial"/>
                <a:cs typeface="Arial"/>
              </a:defRPr>
            </a:pPr>
            <a:r>
              <a:rPr sz="1800" b="1">
                <a:solidFill>
                  <a:srgbClr val="0077A8"/>
                </a:solidFill>
                <a:latin typeface="Arial"/>
                <a:ea typeface="Arial"/>
                <a:cs typeface="Arial"/>
              </a:rPr>
              <a:t>Câu hỏi kiểm tra: “Nếu bị hỏi lại, tôi mở tài liệu nào để chứng minh?”</a:t>
            </a:r>
          </a:p>
        </p:txBody>
      </p:sp>
    </p:spTree>
    <p:extLst>
      <p:ext uri="{BB962C8B-B14F-4D97-AF65-F5344CB8AC3E}">
        <p14:creationId xmlns:p14="http://schemas.microsoft.com/office/powerpoint/2010/main" val="9598560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2026-09-20T17:10:23.0440000Z</dcterms:created>
  <dcterms:modified xsi:type="dcterms:W3CDTF">2026-09-20T17:10:23.0440000Z</dcterms:modified>
</coreProperties>
</file>